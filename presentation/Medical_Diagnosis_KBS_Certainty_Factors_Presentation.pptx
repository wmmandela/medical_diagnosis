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KNOWLEDGE-BASED SYSTEM (KBS) RESEARCH &amp;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1F5F9"/>
                </a:solidFill>
              </a:defRPr>
            </a:pPr>
            <a:r>
              <a:t>Medical Diagnosis Expert System</a:t>
            </a:r>
            <a:br/>
            <a:r>
              <a:t>with Certainty Factors (CF)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94A3B8"/>
                </a:solidFill>
              </a:defRPr>
            </a:pPr>
            <a:r>
              <a:t>Backward-chained medical logic reasoning with uncertainty modeling, Kanren facts, and HOW/WHY explanation facilities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Source Notebook: medical_diagnosis_kbs.ipynb  |  Tech: Python Kanren &amp; MYCIN CF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MEDICAL EXPERT SYSTEM (KBS) &amp; CERTAINTY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Problem Statement &amp; Uncertainty Modeling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  <a:latin typeface="Arial"/>
              </a:defRPr>
            </a:pPr>
            <a:r>
              <a:t>Real-World Uncertainty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Uncertain Symptoms: </a:t>
            </a:r>
            <a:r>
              <a:rPr b="0" sz="1200">
                <a:solidFill>
                  <a:srgbClr val="475569"/>
                </a:solidFill>
              </a:rPr>
              <a:t>Patients may not be 100% sure if a minor symptom is present.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Partial Evidence: </a:t>
            </a:r>
            <a:r>
              <a:rPr b="0" sz="1200">
                <a:solidFill>
                  <a:srgbClr val="475569"/>
                </a:solidFill>
              </a:rPr>
              <a:t>Varying degrees of symptom severity (Yes vs Maybe vs No).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Imperfection in Rules: </a:t>
            </a:r>
            <a:r>
              <a:rPr b="0" sz="1200">
                <a:solidFill>
                  <a:srgbClr val="475569"/>
                </a:solidFill>
              </a:rPr>
              <a:t>Even a complete symptom match does not yield 100% diagnostic certainty.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The MYCIN CF Model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Classical AI Technique: </a:t>
            </a:r>
            <a:r>
              <a:rPr b="0" sz="1200">
                <a:solidFill>
                  <a:srgbClr val="475569"/>
                </a:solidFill>
              </a:rPr>
              <a:t>Popularized by the MYCIN expert system for clinical infectious disease diagnosis.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Confidence Spectrum: </a:t>
            </a:r>
            <a:r>
              <a:rPr b="0" sz="1200">
                <a:solidFill>
                  <a:srgbClr val="475569"/>
                </a:solidFill>
              </a:rPr>
              <a:t>Assigns confidence factors from 0.0 (definitely absent) to 1.0 (definitely present).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Chain Multiplication: </a:t>
            </a:r>
            <a:r>
              <a:rPr b="0" sz="1200">
                <a:solidFill>
                  <a:srgbClr val="475569"/>
                </a:solidFill>
              </a:rPr>
              <a:t>Multiplies certainty values along backward-chained reasoning paths.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System Objectives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Chief Complaint Intake: </a:t>
            </a:r>
            <a:r>
              <a:rPr b="0" sz="1200">
                <a:solidFill>
                  <a:srgbClr val="475569"/>
                </a:solidFill>
              </a:rPr>
              <a:t>Start reasoning from patient's primary chief symptom.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Targeted Backward Chaining: </a:t>
            </a:r>
            <a:r>
              <a:rPr b="0" sz="1200">
                <a:solidFill>
                  <a:srgbClr val="475569"/>
                </a:solidFill>
              </a:rPr>
              <a:t>Ask only relevant follow-up questions for viable candidate rules.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Explainable AI: </a:t>
            </a:r>
            <a:r>
              <a:rPr b="0" sz="1200">
                <a:solidFill>
                  <a:srgbClr val="475569"/>
                </a:solidFill>
              </a:rPr>
              <a:t>Provide instant WHY and HOW explanations for complete transparency.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MEDICAL EXPERT SYSTEM (KBS) &amp; CERTAINTY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Certainty Factor (CF) Mathematics &amp;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Certainty Factor Input Values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CF = 1.0 (Yes / Confirmed): </a:t>
            </a:r>
            <a:r>
              <a:rPr b="0" sz="1200">
                <a:solidFill>
                  <a:srgbClr val="475569"/>
                </a:solidFill>
              </a:rPr>
              <a:t>Symptom is definitely present. Multiplies running CF by 1.0.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CF = 0.5 (Maybe / Uncertain): </a:t>
            </a:r>
            <a:r>
              <a:rPr b="0" sz="1200">
                <a:solidFill>
                  <a:srgbClr val="475569"/>
                </a:solidFill>
              </a:rPr>
              <a:t>Symptom is uncertain. Multiplies running CF by 0.5, reducing overall certainty.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CF = 0.0 (No / Absent): </a:t>
            </a:r>
            <a:r>
              <a:rPr b="0" sz="1200">
                <a:solidFill>
                  <a:srgbClr val="475569"/>
                </a:solidFill>
              </a:rPr>
              <a:t>Symptom is absent. Multiplies running CF by 0.0, immediately ruling out the disease.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Prior Rule Confidence: </a:t>
            </a:r>
            <a:r>
              <a:rPr b="0" sz="1200">
                <a:solidFill>
                  <a:srgbClr val="475569"/>
                </a:solidFill>
              </a:rPr>
              <a:t>Each disease rule starts with an expert prior confidence (e.g. Malaria: 0.90, Common Cold: 0.95).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Reasoning Chain Formula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Multiplicative Combination: </a:t>
            </a:r>
            <a:r>
              <a:rPr b="0" sz="1200">
                <a:solidFill>
                  <a:srgbClr val="475569"/>
                </a:solidFill>
              </a:rPr>
              <a:t>CF_final = CF_rule * CF_symptom1 * CF_symptom2 * ... * CF_symptomN.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Strict Monotonicity: </a:t>
            </a:r>
            <a:r>
              <a:rPr b="0" sz="1200">
                <a:solidFill>
                  <a:srgbClr val="475569"/>
                </a:solidFill>
              </a:rPr>
              <a:t>Each additional uncertain evidence step can only maintain or decrease total confidence.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Early Disqualification: </a:t>
            </a:r>
            <a:r>
              <a:rPr b="0" sz="1200">
                <a:solidFill>
                  <a:srgbClr val="475569"/>
                </a:solidFill>
              </a:rPr>
              <a:t>A single negative answer (CF = 0.0) short-circuits further questions for that rule.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Hypothesis Ranking: </a:t>
            </a:r>
            <a:r>
              <a:rPr b="0" sz="1200">
                <a:solidFill>
                  <a:srgbClr val="475569"/>
                </a:solidFill>
              </a:rPr>
              <a:t>Candidate diagnoses are ranked by surviving final CF to determine the top winner.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MEDICAL EXPERT SYSTEM (KBS) &amp; CERTAINTY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Knowledge Base Structure &amp; Fact Store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  <a:latin typeface="Arial"/>
              </a:defRPr>
            </a:pPr>
            <a:r>
              <a:t>1. Symbolic Fact Store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Kanren Relation: </a:t>
            </a:r>
            <a:r>
              <a:rPr b="0" sz="1200">
                <a:solidFill>
                  <a:srgbClr val="475569"/>
                </a:solidFill>
              </a:rPr>
              <a:t>has_symptom Relation() acts as a symbolic fact store.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Assert Symptom Helper: </a:t>
            </a:r>
            <a:r>
              <a:rPr b="0" sz="1200">
                <a:solidFill>
                  <a:srgbClr val="475569"/>
                </a:solidFill>
              </a:rPr>
              <a:t>assert_symptom() records confirmed symptoms.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Confidence Filter: </a:t>
            </a:r>
            <a:r>
              <a:rPr b="0" sz="1200">
                <a:solidFill>
                  <a:srgbClr val="475569"/>
                </a:solidFill>
              </a:rPr>
              <a:t>Only symptoms with CF &gt; 0.0 are added as Kanren facts.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2. Diagnostic Rule Mapping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DISEASE_RULES Dict: </a:t>
            </a:r>
            <a:r>
              <a:rPr b="0" sz="1200">
                <a:solidFill>
                  <a:srgbClr val="475569"/>
                </a:solidFill>
              </a:rPr>
              <a:t>Maps disease names to required symptom lists.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Infectious Diseases: </a:t>
            </a:r>
            <a:r>
              <a:rPr b="0" sz="1200">
                <a:solidFill>
                  <a:srgbClr val="475569"/>
                </a:solidFill>
              </a:rPr>
              <a:t>Malaria, Typhoid, Influenza, Dengue, Cholera, Tuberculosis, COVID-19.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Chronic Conditions: </a:t>
            </a:r>
            <a:r>
              <a:rPr b="0" sz="1200">
                <a:solidFill>
                  <a:srgbClr val="475569"/>
                </a:solidFill>
              </a:rPr>
              <a:t>Type 2 Diabetes, Hypertension, Asthma, Migraine, Anemia.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3. Rule Confidence Priors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Malaria Rule Prior: </a:t>
            </a:r>
            <a:r>
              <a:rPr b="0" sz="1200">
                <a:solidFill>
                  <a:srgbClr val="475569"/>
                </a:solidFill>
              </a:rPr>
              <a:t>Base confidence = 0.90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Common Cold Prior: </a:t>
            </a:r>
            <a:r>
              <a:rPr b="0" sz="1200">
                <a:solidFill>
                  <a:srgbClr val="475569"/>
                </a:solidFill>
              </a:rPr>
              <a:t>Base confidence = 0.95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Typhoid Prior: </a:t>
            </a:r>
            <a:r>
              <a:rPr b="0" sz="1200">
                <a:solidFill>
                  <a:srgbClr val="475569"/>
                </a:solidFill>
              </a:rPr>
              <a:t>Base confidence = 0.85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Influenza Prior: </a:t>
            </a:r>
            <a:r>
              <a:rPr b="0" sz="1200">
                <a:solidFill>
                  <a:srgbClr val="475569"/>
                </a:solidFill>
              </a:rPr>
              <a:t>Base confidence = 0.80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MEDICAL EXPERT SYSTEM (KBS) &amp; CERTAINTY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Explanation Facilities (WHY &amp; HOW)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WHY Explanation Facility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Trigger Condition: </a:t>
            </a:r>
            <a:r>
              <a:rPr b="0" sz="1200">
                <a:solidFill>
                  <a:srgbClr val="475569"/>
                </a:solidFill>
              </a:rPr>
              <a:t>Activated whenever the user types 'why' during follow-up questioning.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Function Signature: </a:t>
            </a:r>
            <a:r>
              <a:rPr b="0" sz="1200">
                <a:solidFill>
                  <a:srgbClr val="475569"/>
                </a:solidFill>
              </a:rPr>
              <a:t>explain_why(symptom_name, hypothesis_disease)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Clinical Rationale: </a:t>
            </a:r>
            <a:r>
              <a:rPr b="0" sz="1200">
                <a:solidFill>
                  <a:srgbClr val="475569"/>
                </a:solidFill>
              </a:rPr>
              <a:t>Explains which disease hypothesis the system is currently testing and why that specific symptom matters.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User Transparency: </a:t>
            </a:r>
            <a:r>
              <a:rPr b="0" sz="1200">
                <a:solidFill>
                  <a:srgbClr val="475569"/>
                </a:solidFill>
              </a:rPr>
              <a:t>Eliminates mystery during questioning by explaining the reasoning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HOW Explanation Facility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Trigger Condition: </a:t>
            </a:r>
            <a:r>
              <a:rPr b="0" sz="1200">
                <a:solidFill>
                  <a:srgbClr val="475569"/>
                </a:solidFill>
              </a:rPr>
              <a:t>Activated automatically once a final diagnosis is concluded.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Function Signature: </a:t>
            </a:r>
            <a:r>
              <a:rPr b="0" sz="1200">
                <a:solidFill>
                  <a:srgbClr val="475569"/>
                </a:solidFill>
              </a:rPr>
              <a:t>explain_how(diagnosed_disease, final_cf, rule_cf)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Multiplication Breakdown: </a:t>
            </a:r>
            <a:r>
              <a:rPr b="0" sz="1200">
                <a:solidFill>
                  <a:srgbClr val="475569"/>
                </a:solidFill>
              </a:rPr>
              <a:t>Lists base rule confidence and individual confirmed symptom CF values.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Full Traceability: </a:t>
            </a:r>
            <a:r>
              <a:rPr b="0" sz="1200">
                <a:solidFill>
                  <a:srgbClr val="475569"/>
                </a:solidFill>
              </a:rPr>
              <a:t>Shows the exact step-by-step mathematical derivation of the final CF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MEDICAL EXPERT SYSTEM (KBS) &amp; CERTAINTY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Backward Chaining Inference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Phase 1: Chief Complaint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Primary Symptom Input: </a:t>
            </a:r>
            <a:r>
              <a:rPr b="0" sz="1200">
                <a:solidFill>
                  <a:srgbClr val="475569"/>
                </a:solidFill>
              </a:rPr>
              <a:t>User enters chief complaint (e.g. fever, runny_nose).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100% Certainty Assert: </a:t>
            </a:r>
            <a:r>
              <a:rPr b="0" sz="1200">
                <a:solidFill>
                  <a:srgbClr val="475569"/>
                </a:solidFill>
              </a:rPr>
              <a:t>Chief complaint is asserted with CF = 1.0.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Candidate Matching: </a:t>
            </a:r>
            <a:r>
              <a:rPr b="0" sz="1200">
                <a:solidFill>
                  <a:srgbClr val="475569"/>
                </a:solidFill>
              </a:rPr>
              <a:t>Identifies all disease rules containing the chief complaint.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  <a:latin typeface="Arial"/>
              </a:defRPr>
            </a:pPr>
            <a:r>
              <a:t>Phase 2: Target Questioning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Sequential Iteration: </a:t>
            </a:r>
            <a:r>
              <a:rPr b="0" sz="1200">
                <a:solidFill>
                  <a:srgbClr val="475569"/>
                </a:solidFill>
              </a:rPr>
              <a:t>Loops through required symptoms for candidate rules.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Answer Options: </a:t>
            </a:r>
            <a:r>
              <a:rPr b="0" sz="1200">
                <a:solidFill>
                  <a:srgbClr val="475569"/>
                </a:solidFill>
              </a:rPr>
              <a:t>Prompts for 'yes' (1.0), 'no' (0.0), 'maybe' (0.5), or 'why'.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Early Exit: </a:t>
            </a:r>
            <a:r>
              <a:rPr b="0" sz="1200">
                <a:solidFill>
                  <a:srgbClr val="475569"/>
                </a:solidFill>
              </a:rPr>
              <a:t>Breaks immediately if symptom CF = 0.0 (hypothesis disqualified).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Phase 3: Candidate Ranking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CF Accumulation: </a:t>
            </a:r>
            <a:r>
              <a:rPr b="0" sz="1200">
                <a:solidFill>
                  <a:srgbClr val="475569"/>
                </a:solidFill>
              </a:rPr>
              <a:t>Updates running current_cf via multiplication.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Highest CF Selection: </a:t>
            </a:r>
            <a:r>
              <a:rPr b="0" sz="1200">
                <a:solidFill>
                  <a:srgbClr val="475569"/>
                </a:solidFill>
              </a:rPr>
              <a:t>Saves hypothesis with highest surviving CF score.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Final Report: </a:t>
            </a:r>
            <a:r>
              <a:rPr b="0" sz="1200">
                <a:solidFill>
                  <a:srgbClr val="475569"/>
                </a:solidFill>
              </a:rPr>
              <a:t>Displays winning diagnosis with full HOW explanation trace.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MEDICAL EXPERT SYSTEM (KBS) &amp; CERTAINTY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Step-by-Step Interactive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  <a:latin typeface="Arial"/>
              </a:defRPr>
            </a:pPr>
            <a:r>
              <a:t>Step 1: Input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Enter Complaint: </a:t>
            </a:r>
            <a:r>
              <a:rPr b="0" sz="1200">
                <a:solidFill>
                  <a:srgbClr val="475569"/>
                </a:solidFill>
              </a:rPr>
              <a:t>User enters primary chief symptom.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Assert CF = 1.0: </a:t>
            </a:r>
            <a:r>
              <a:rPr b="0" sz="1200">
                <a:solidFill>
                  <a:srgbClr val="475569"/>
                </a:solidFill>
              </a:rPr>
              <a:t>System registers chief complaint.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645920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Step 2: Match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Filter Rules: </a:t>
            </a:r>
            <a:r>
              <a:rPr b="0" sz="1200">
                <a:solidFill>
                  <a:srgbClr val="475569"/>
                </a:solidFill>
              </a:rPr>
              <a:t>Locates candidate disease rules.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Load Prior CF: </a:t>
            </a:r>
            <a:r>
              <a:rPr b="0" sz="1200">
                <a:solidFill>
                  <a:srgbClr val="475569"/>
                </a:solidFill>
              </a:rPr>
              <a:t>Initializes running CF with rule base confidence.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Step 3: Survey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Prompt Follow-Up: </a:t>
            </a:r>
            <a:r>
              <a:rPr b="0" sz="1200">
                <a:solidFill>
                  <a:srgbClr val="475569"/>
                </a:solidFill>
              </a:rPr>
              <a:t>Ask 'yes'/'no'/'maybe'/'why'.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Multiply CF: </a:t>
            </a:r>
            <a:r>
              <a:rPr b="0" sz="1200">
                <a:solidFill>
                  <a:srgbClr val="475569"/>
                </a:solidFill>
              </a:rPr>
              <a:t>Update running total; exit early if 'no'.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645920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  <a:latin typeface="Arial"/>
              </a:defRPr>
            </a:pPr>
            <a:r>
              <a:t>Step 4: Output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Rank Candidates: </a:t>
            </a:r>
            <a:r>
              <a:rPr b="0" sz="1200">
                <a:solidFill>
                  <a:srgbClr val="475569"/>
                </a:solidFill>
              </a:rPr>
              <a:t>Select candidate with highest CF.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Print HOW Trace: </a:t>
            </a:r>
            <a:r>
              <a:rPr b="0" sz="1200">
                <a:solidFill>
                  <a:srgbClr val="475569"/>
                </a:solidFill>
              </a:rPr>
              <a:t>Display full mathematical explanation.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MEDICAL EXPERT SYSTEM (KBS) &amp; CERTAINTY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Key Findings &amp; Notebook Behavior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Key Notebook Insights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Deterministic Rule Evaluation: </a:t>
            </a:r>
            <a:r>
              <a:rPr b="0" sz="1200">
                <a:solidFill>
                  <a:srgbClr val="475569"/>
                </a:solidFill>
              </a:rPr>
              <a:t>Diseases are evaluated in dictionary insertion order (Malaria -&gt; Typhoid -&gt; Influenza -&gt; Common Cold).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Short-Circuiting Efficiency: </a:t>
            </a:r>
            <a:r>
              <a:rPr b="0" sz="1200">
                <a:solidFill>
                  <a:srgbClr val="475569"/>
                </a:solidFill>
              </a:rPr>
              <a:t>A single negative answer (CF = 0.0) short-circuits rule evaluation, avoiding unnecessary user questions.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Global Candidate Ranking: </a:t>
            </a:r>
            <a:r>
              <a:rPr b="0" sz="1200">
                <a:solidFill>
                  <a:srgbClr val="475569"/>
                </a:solidFill>
              </a:rPr>
              <a:t>Final reported diagnosis is the surviving hypothesis with the HIGHEST combined CF, not just the first matching one.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Dual Fact Representation: </a:t>
            </a:r>
            <a:r>
              <a:rPr b="0" sz="1200">
                <a:solidFill>
                  <a:srgbClr val="475569"/>
                </a:solidFill>
              </a:rPr>
              <a:t>Combines Kanren relation facts with Python dictionary certainty factors.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Future Enhancements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Multiple Chief Complaints: </a:t>
            </a:r>
            <a:r>
              <a:rPr b="0" sz="1200">
                <a:solidFill>
                  <a:srgbClr val="475569"/>
                </a:solidFill>
              </a:rPr>
              <a:t>Support multiple initial starting symptoms.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Granular CF Sliders: </a:t>
            </a:r>
            <a:r>
              <a:rPr b="0" sz="1200">
                <a:solidFill>
                  <a:srgbClr val="475569"/>
                </a:solidFill>
              </a:rPr>
              <a:t>Allow continuous 0-100% confidence inputs.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Fact Persistence: </a:t>
            </a:r>
            <a:r>
              <a:rPr b="0" sz="1200">
                <a:solidFill>
                  <a:srgbClr val="475569"/>
                </a:solidFill>
              </a:rPr>
              <a:t>Persist patient session facts across multiple consultations.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Automated Unit Tests: </a:t>
            </a:r>
            <a:r>
              <a:rPr b="0" sz="1200">
                <a:solidFill>
                  <a:srgbClr val="475569"/>
                </a:solidFill>
              </a:rPr>
              <a:t>Implement automated assertion tests for CF arithmetic.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PROJECT SUMMARY &amp;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Core System Achievements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Relational KBS Engine: </a:t>
            </a:r>
            <a:r>
              <a:rPr b="0" sz="1200">
                <a:solidFill>
                  <a:srgbClr val="475569"/>
                </a:solidFill>
              </a:rPr>
              <a:t>Built backward-chained medical inference engine in Python Kanren.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Certainty Factor Logic: </a:t>
            </a:r>
            <a:r>
              <a:rPr b="0" sz="1200">
                <a:solidFill>
                  <a:srgbClr val="475569"/>
                </a:solidFill>
              </a:rPr>
              <a:t>Modeled evidence uncertainty using multiplicative MYCIN CF math.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Dual Explanation Facilities: </a:t>
            </a:r>
            <a:r>
              <a:rPr b="0" sz="1200">
                <a:solidFill>
                  <a:srgbClr val="475569"/>
                </a:solidFill>
              </a:rPr>
              <a:t>Implemented transparent WHY and HOW explanation functions.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Interactive Triage Loop: </a:t>
            </a:r>
            <a:r>
              <a:rPr b="0" sz="1200">
                <a:solidFill>
                  <a:srgbClr val="475569"/>
                </a:solidFill>
              </a:rPr>
              <a:t>Dynamic follow-up questionnaire short-circuiting on negative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Clinical &amp; Technical Deliverables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Notebook Source: </a:t>
            </a:r>
            <a:r>
              <a:rPr b="0" sz="1200">
                <a:solidFill>
                  <a:srgbClr val="475569"/>
                </a:solidFill>
              </a:rPr>
              <a:t>medical_diagnosis_kbs.ipynb fully documented.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Word Documentation: </a:t>
            </a:r>
            <a:r>
              <a:rPr b="0" sz="1200">
                <a:solidFill>
                  <a:srgbClr val="475569"/>
                </a:solidFill>
              </a:rPr>
              <a:t>Complete student documentation generated.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Presentation Decks: </a:t>
            </a:r>
            <a:r>
              <a:rPr b="0" sz="1200">
                <a:solidFill>
                  <a:srgbClr val="475569"/>
                </a:solidFill>
              </a:rPr>
              <a:t>PowerPoint (.pptx) &amp; Interactive Web presentation decks created.</a:t>
            </a:r>
          </a:p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b="1" sz="1200">
                <a:solidFill>
                  <a:srgbClr val="0F172A"/>
                </a:solidFill>
              </a:rPr>
              <a:t>• Verified Codebase: </a:t>
            </a:r>
            <a:r>
              <a:rPr b="0" sz="1200">
                <a:solidFill>
                  <a:srgbClr val="475569"/>
                </a:solidFill>
              </a:rPr>
              <a:t>9/9 unit tests passing cleanly.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