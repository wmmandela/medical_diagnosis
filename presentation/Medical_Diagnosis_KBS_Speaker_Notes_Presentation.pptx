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Good morning everyone. Today I am presenting my project on a Medical Diagnosis Expert System with Certainty Factors. In clinical medicine, diagnostic decisions are rarely black and white. Patients often express varying confidence about their symptoms. This project implements a backward-chained Knowledge-Based System in Python using Certainty Factors to model and combine uncertainty, alongside Kanren relational logic for fact storage.</a:t>
            </a:r>
          </a:p>
          <a:p/>
          <a:p>
            <a:r>
              <a:t>KEY TALKING POINTS:</a:t>
            </a:r>
          </a:p>
          <a:p>
            <a:r>
              <a:t>• Introduce the main objective: bridging symbolic artificial intelligence with real-world clinical uncertainty.</a:t>
            </a:r>
          </a:p>
          <a:p>
            <a:r>
              <a:t>• Mention that speaker notes are embedded directly into each slide for Presenter 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To understand why we built this system, consider how patients describe illness. A patient might say they definitely have fever, but are unsure if they have subtle chills or joint aches. Traditional Boolean logic fails here because it forces a strict yes or no. We adopted the classical MYCIN Certainty Factor model, where evidence confidence ranges from 0.0 for definitely absent, to 0.5 for uncertain or maybe, up to 1.0 for definitely present.</a:t>
            </a:r>
          </a:p>
          <a:p/>
          <a:p>
            <a:r>
              <a:t>KEY TALKING POINTS:</a:t>
            </a:r>
          </a:p>
          <a:p>
            <a:r>
              <a:t>• Emphasize that Certainty Factors allow the system to handle partial or hesitant patient responses without crashing or forcing incorrect binary inputs.</a:t>
            </a:r>
          </a:p>
          <a:p>
            <a:r>
              <a:t>• Point out the range: 0.0 (No), 0.5 (Maybe), 1.0 (Yes).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Now let us examine the mathematics behind the reasoning chain. Each disease rule starts with a prior base confidence assigned by medical experts, for example 0.90 for Malaria or 0.85 for Typhoid. As the system asks about required symptoms, each confirmed answer multiplies into the running confidence total. If a patient answers yes, we multiply by 1.0. If they answer maybe, we multiply by 0.5. Notice that because every factor is less than or equal to 1.0, additional uncertain steps can only maintain or decrease total confidence. Crucially, if the patient answers no, the certainty factor drops to 0.0, which immediately disqualifies that candidate disease and short-circuits further questions.</a:t>
            </a:r>
          </a:p>
          <a:p/>
          <a:p>
            <a:r>
              <a:t>KEY TALKING POINTS:</a:t>
            </a:r>
          </a:p>
          <a:p>
            <a:r>
              <a:t>• Explain the formula CF_final = CF_rule * CF_symptom1 * CF_symptom2 * ... * CF_symptomN.</a:t>
            </a:r>
          </a:p>
          <a:p>
            <a:r>
              <a:t>• Highlight how a single 'no' (CF = 0.0) short-circuits evaluation, saving clinical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The knowledge base is built on two complementary structures. First, we use Python Kanren to define a relational fact store named has_symptom. When a symptom is confirmed with confidence greater than zero, it is asserted into the Kanren logic engine. Second, we maintain a dictionary of disease rules mapping over 50 infectious and chronic conditions—such as Malaria, Typhoid, COVID-19, Tuberculosis, and Diabetes—to their characteristic symptom profiles.</a:t>
            </a:r>
          </a:p>
          <a:p/>
          <a:p>
            <a:r>
              <a:t>KEY TALKING POINTS:</a:t>
            </a:r>
          </a:p>
          <a:p>
            <a:r>
              <a:t>• Point out that the system covers both acute communicable infections and chronic non-communicable diseases.</a:t>
            </a:r>
          </a:p>
          <a:p>
            <a:r>
              <a:t>• Explain the role of Kanren Relation() vs Python dictionary.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A hallmark of classic expert systems is explainability. A black-box system is unusable in clinical healthcare. Our system implements two explanation facilities. First, the WHY facility: if a user wonders why a question is being asked, typing 'why' triggers explain_why, which reveals the active disease hypothesis being tested. Second, the HOW facility: once a diagnosis is reached, explain_how prints the complete mathematical trace showing the base rule confidence and each symptom confidence factor multiplied together.</a:t>
            </a:r>
          </a:p>
          <a:p/>
          <a:p>
            <a:r>
              <a:t>KEY TALKING POINTS:</a:t>
            </a:r>
          </a:p>
          <a:p>
            <a:r>
              <a:t>• Highlight how transparency builds trust between clinicians and AI decision support tools.</a:t>
            </a:r>
          </a:p>
          <a:p>
            <a:r>
              <a:t>• Differentiate WHY (during questioning) from HOW (after conclusion).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Let us look at how the main inference function, run_diagnosis, operates. The session begins when the patient enters their primary chief complaint, such as fever. The engine assumes 1.0 certainty for the chief complaint and identifies all candidate disease rules containing that symptom. It then backward-chains through the remaining required symptoms for each candidate rule, prompting the user interactively. If a hypothesis survives, its final combined certainty factor is compared against previous candidates. The candidate with the highest surviving certainty factor is selected as the winning diagnosis.</a:t>
            </a:r>
          </a:p>
          <a:p/>
          <a:p>
            <a:r>
              <a:t>KEY TALKING POINTS:</a:t>
            </a:r>
          </a:p>
          <a:p>
            <a:r>
              <a:t>• Explain why backward chaining is more natural for diagnostic dialogue than asking about every possible symptom upfront.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Here is the step-by-step workflow during an active consultation. In Step 1, the user enters their chief complaint. In Step 2, candidate disease rules are loaded and their base confidences are set. In Step 3, the interactive questionnaire prompts for yes, no, maybe, or why, updating the running certainty factor on each answer. Finally in Step 4, candidate hypotheses are ranked by their final score, and the top diagnosis is printed along with the full HOW explanation.</a:t>
            </a:r>
          </a:p>
          <a:p/>
          <a:p>
            <a:r>
              <a:t>KEY TALKING POINTS:</a:t>
            </a:r>
          </a:p>
          <a:p>
            <a:r>
              <a:t>• Walk through the four steps clearly, emphasizing how smooth the interactive loop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In reviewing the notebook execution, we identified several key behaviors. Candidate rules are evaluated in insertion order. Early short-circuiting on negative answers significantly reduces consultation time. Furthermore, the winning diagnosis is determined globally by the highest final certainty score, rather than simply picking the first rule that matches. For future work, we plan to support multiple chief complaints at startup, introduce continuous 0 to 100 percent confidence sliders, and persist patient session history.</a:t>
            </a:r>
          </a:p>
          <a:p/>
          <a:p>
            <a:r>
              <a:t>KEY TALKING POINTS:</a:t>
            </a:r>
          </a:p>
          <a:p>
            <a:r>
              <a:t>• Summarize findings and present practical future enhancements to demonstrate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PRESENTATION SCRIPT:</a:t>
            </a:r>
          </a:p>
          <a:p>
            <a:r>
              <a:t>In conclusion, this project demonstrates how classical expert system techniques can be successfully implemented in Python. By combining Kanren relational facts with Certainty Factor mathematics and full explanation facilities, we have created an explainable, robust diagnostic decision support tool. Thank you for your time, and I am now ready for any questions.</a:t>
            </a:r>
          </a:p>
          <a:p/>
          <a:p>
            <a:r>
              <a:t>KEY TALKING POINTS:</a:t>
            </a:r>
          </a:p>
          <a:p>
            <a:r>
              <a:t>• Conclude with confidence and invite questions from the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645920"/>
            <a:ext cx="10698480" cy="457200"/>
          </a:xfrm>
          <a:prstGeom prst="rect">
            <a:avLst/>
          </a:prstGeom>
          <a:noFill/>
        </p:spPr>
        <p:txBody>
          <a:bodyPr wrap="none">
            <a:spAutoFit/>
          </a:bodyPr>
          <a:lstStyle/>
          <a:p>
            <a:pPr>
              <a:defRPr sz="1200" b="1">
                <a:solidFill>
                  <a:srgbClr val="0EA5E9"/>
                </a:solidFill>
              </a:defRPr>
            </a:pPr>
            <a:r>
              <a:t>KNOWLEDGE-BASED SYSTEM (KBS) PRESENTATION WITH SPEAKER NOTES</a:t>
            </a:r>
          </a:p>
        </p:txBody>
      </p:sp>
      <p:sp>
        <p:nvSpPr>
          <p:cNvPr id="3" name="TextBox 2"/>
          <p:cNvSpPr txBox="1"/>
          <p:nvPr/>
        </p:nvSpPr>
        <p:spPr>
          <a:xfrm>
            <a:off x="731520" y="2103120"/>
            <a:ext cx="10698480" cy="1645920"/>
          </a:xfrm>
          <a:prstGeom prst="rect">
            <a:avLst/>
          </a:prstGeom>
          <a:noFill/>
        </p:spPr>
        <p:txBody>
          <a:bodyPr wrap="none">
            <a:spAutoFit/>
          </a:bodyPr>
          <a:lstStyle/>
          <a:p>
            <a:pPr>
              <a:defRPr sz="3800" b="1">
                <a:solidFill>
                  <a:srgbClr val="F1F5F9"/>
                </a:solidFill>
              </a:defRPr>
            </a:pPr>
            <a:r>
              <a:t>Medical Diagnosis Expert System</a:t>
            </a:r>
            <a:br/>
            <a:r>
              <a:t>with Certainty Factors (CF)</a:t>
            </a:r>
          </a:p>
        </p:txBody>
      </p:sp>
      <p:sp>
        <p:nvSpPr>
          <p:cNvPr id="4" name="TextBox 3"/>
          <p:cNvSpPr txBox="1"/>
          <p:nvPr/>
        </p:nvSpPr>
        <p:spPr>
          <a:xfrm>
            <a:off x="731520" y="4114800"/>
            <a:ext cx="10698480" cy="914400"/>
          </a:xfrm>
          <a:prstGeom prst="rect">
            <a:avLst/>
          </a:prstGeom>
          <a:noFill/>
        </p:spPr>
        <p:txBody>
          <a:bodyPr wrap="none">
            <a:spAutoFit/>
          </a:bodyPr>
          <a:lstStyle/>
          <a:p>
            <a:pPr>
              <a:defRPr sz="1700">
                <a:solidFill>
                  <a:srgbClr val="94A3B8"/>
                </a:solidFill>
              </a:defRPr>
            </a:pPr>
            <a:r>
              <a:t>Backward-chained medical logic reasoning using Certainty Factors and Kanren relation facts</a:t>
            </a:r>
          </a:p>
        </p:txBody>
      </p:sp>
      <p:sp>
        <p:nvSpPr>
          <p:cNvPr id="5" name="TextBox 4"/>
          <p:cNvSpPr txBox="1"/>
          <p:nvPr/>
        </p:nvSpPr>
        <p:spPr>
          <a:xfrm>
            <a:off x="731520" y="5486400"/>
            <a:ext cx="10698480" cy="731520"/>
          </a:xfrm>
          <a:prstGeom prst="rect">
            <a:avLst/>
          </a:prstGeom>
          <a:noFill/>
        </p:spPr>
        <p:txBody>
          <a:bodyPr wrap="none">
            <a:spAutoFit/>
          </a:bodyPr>
          <a:lstStyle/>
          <a:p>
            <a:pPr>
              <a:defRPr sz="1300" b="1">
                <a:solidFill>
                  <a:srgbClr val="10B981"/>
                </a:solidFill>
              </a:defRPr>
            </a:pPr>
            <a:r>
              <a:t>Source Notebook: medical_diagnosis_kbs.ipynb  |  Includes Presenter View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Problem Statement &amp; Uncertainty Modeling</a:t>
            </a:r>
          </a:p>
        </p:txBody>
      </p:sp>
      <p:sp>
        <p:nvSpPr>
          <p:cNvPr id="4" name="Rounded Rectangle 3"/>
          <p:cNvSpPr/>
          <p:nvPr/>
        </p:nvSpPr>
        <p:spPr>
          <a:xfrm>
            <a:off x="7315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480560"/>
          </a:xfrm>
          <a:prstGeom prst="rect">
            <a:avLst/>
          </a:prstGeom>
          <a:noFill/>
        </p:spPr>
        <p:txBody>
          <a:bodyPr wrap="square">
            <a:spAutoFit/>
          </a:bodyPr>
          <a:lstStyle/>
          <a:p>
            <a:pPr>
              <a:spcAft>
                <a:spcPts val="1000"/>
              </a:spcAft>
              <a:defRPr sz="1600" b="1">
                <a:solidFill>
                  <a:srgbClr val="6366F1"/>
                </a:solidFill>
                <a:latin typeface="Arial"/>
              </a:defRPr>
            </a:pPr>
            <a:r>
              <a:t>Real-World Uncertainty</a:t>
            </a:r>
          </a:p>
          <a:p>
            <a:pPr>
              <a:spcAft>
                <a:spcPts val="600"/>
              </a:spcAft>
              <a:defRPr>
                <a:latin typeface="Arial"/>
              </a:defRPr>
            </a:pPr>
            <a:r>
              <a:rPr b="1" sz="1200">
                <a:solidFill>
                  <a:srgbClr val="0F172A"/>
                </a:solidFill>
              </a:rPr>
              <a:t>• Uncertain Symptoms: </a:t>
            </a:r>
            <a:r>
              <a:rPr b="0" sz="1200">
                <a:solidFill>
                  <a:srgbClr val="475569"/>
                </a:solidFill>
              </a:rPr>
              <a:t>Patients may not be 100% sure if a minor symptom is present.</a:t>
            </a:r>
          </a:p>
          <a:p>
            <a:pPr>
              <a:spcAft>
                <a:spcPts val="600"/>
              </a:spcAft>
              <a:defRPr>
                <a:latin typeface="Arial"/>
              </a:defRPr>
            </a:pPr>
            <a:r>
              <a:rPr b="1" sz="1200">
                <a:solidFill>
                  <a:srgbClr val="0F172A"/>
                </a:solidFill>
              </a:rPr>
              <a:t>• Partial Evidence: </a:t>
            </a:r>
            <a:r>
              <a:rPr b="0" sz="1200">
                <a:solidFill>
                  <a:srgbClr val="475569"/>
                </a:solidFill>
              </a:rPr>
              <a:t>Varying degrees of symptom severity (Yes vs Maybe vs No).</a:t>
            </a:r>
          </a:p>
          <a:p>
            <a:pPr>
              <a:spcAft>
                <a:spcPts val="600"/>
              </a:spcAft>
              <a:defRPr>
                <a:latin typeface="Arial"/>
              </a:defRPr>
            </a:pPr>
            <a:r>
              <a:rPr b="1" sz="1200">
                <a:solidFill>
                  <a:srgbClr val="0F172A"/>
                </a:solidFill>
              </a:rPr>
              <a:t>• Imperfection in Rules: </a:t>
            </a:r>
            <a:r>
              <a:rPr b="0" sz="1200">
                <a:solidFill>
                  <a:srgbClr val="475569"/>
                </a:solidFill>
              </a:rPr>
              <a:t>Even a complete symptom match does not yield 100% diagnostic certainty.</a:t>
            </a:r>
          </a:p>
        </p:txBody>
      </p:sp>
      <p:sp>
        <p:nvSpPr>
          <p:cNvPr id="6" name="Rounded Rectangle 5"/>
          <p:cNvSpPr/>
          <p:nvPr/>
        </p:nvSpPr>
        <p:spPr>
          <a:xfrm>
            <a:off x="43891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480560"/>
          </a:xfrm>
          <a:prstGeom prst="rect">
            <a:avLst/>
          </a:prstGeom>
          <a:noFill/>
        </p:spPr>
        <p:txBody>
          <a:bodyPr wrap="square">
            <a:spAutoFit/>
          </a:bodyPr>
          <a:lstStyle/>
          <a:p>
            <a:pPr>
              <a:spcAft>
                <a:spcPts val="1000"/>
              </a:spcAft>
              <a:defRPr sz="1600" b="1">
                <a:solidFill>
                  <a:srgbClr val="0EA5E9"/>
                </a:solidFill>
                <a:latin typeface="Arial"/>
              </a:defRPr>
            </a:pPr>
            <a:r>
              <a:t>The MYCIN CF Model</a:t>
            </a:r>
          </a:p>
          <a:p>
            <a:pPr>
              <a:spcAft>
                <a:spcPts val="600"/>
              </a:spcAft>
              <a:defRPr>
                <a:latin typeface="Arial"/>
              </a:defRPr>
            </a:pPr>
            <a:r>
              <a:rPr b="1" sz="1200">
                <a:solidFill>
                  <a:srgbClr val="0F172A"/>
                </a:solidFill>
              </a:rPr>
              <a:t>• Classical AI Technique: </a:t>
            </a:r>
            <a:r>
              <a:rPr b="0" sz="1200">
                <a:solidFill>
                  <a:srgbClr val="475569"/>
                </a:solidFill>
              </a:rPr>
              <a:t>Popularized by the MYCIN expert system for clinical infectious disease diagnosis.</a:t>
            </a:r>
          </a:p>
          <a:p>
            <a:pPr>
              <a:spcAft>
                <a:spcPts val="600"/>
              </a:spcAft>
              <a:defRPr>
                <a:latin typeface="Arial"/>
              </a:defRPr>
            </a:pPr>
            <a:r>
              <a:rPr b="1" sz="1200">
                <a:solidFill>
                  <a:srgbClr val="0F172A"/>
                </a:solidFill>
              </a:rPr>
              <a:t>• Confidence Spectrum: </a:t>
            </a:r>
            <a:r>
              <a:rPr b="0" sz="1200">
                <a:solidFill>
                  <a:srgbClr val="475569"/>
                </a:solidFill>
              </a:rPr>
              <a:t>Assigns confidence factors from 0.0 (definitely absent) to 1.0 (definitely present).</a:t>
            </a:r>
          </a:p>
          <a:p>
            <a:pPr>
              <a:spcAft>
                <a:spcPts val="600"/>
              </a:spcAft>
              <a:defRPr>
                <a:latin typeface="Arial"/>
              </a:defRPr>
            </a:pPr>
            <a:r>
              <a:rPr b="1" sz="1200">
                <a:solidFill>
                  <a:srgbClr val="0F172A"/>
                </a:solidFill>
              </a:rPr>
              <a:t>• Chain Multiplication: </a:t>
            </a:r>
            <a:r>
              <a:rPr b="0" sz="1200">
                <a:solidFill>
                  <a:srgbClr val="475569"/>
                </a:solidFill>
              </a:rPr>
              <a:t>Multiplies certainty values along backward-chained reasoning paths.</a:t>
            </a:r>
          </a:p>
        </p:txBody>
      </p:sp>
      <p:sp>
        <p:nvSpPr>
          <p:cNvPr id="8" name="Rounded Rectangle 7"/>
          <p:cNvSpPr/>
          <p:nvPr/>
        </p:nvSpPr>
        <p:spPr>
          <a:xfrm>
            <a:off x="8046720" y="146304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480560"/>
          </a:xfrm>
          <a:prstGeom prst="rect">
            <a:avLst/>
          </a:prstGeom>
          <a:noFill/>
        </p:spPr>
        <p:txBody>
          <a:bodyPr wrap="square">
            <a:spAutoFit/>
          </a:bodyPr>
          <a:lstStyle/>
          <a:p>
            <a:pPr>
              <a:spcAft>
                <a:spcPts val="1000"/>
              </a:spcAft>
              <a:defRPr sz="1600" b="1">
                <a:solidFill>
                  <a:srgbClr val="10B981"/>
                </a:solidFill>
                <a:latin typeface="Arial"/>
              </a:defRPr>
            </a:pPr>
            <a:r>
              <a:t>System Objectives</a:t>
            </a:r>
          </a:p>
          <a:p>
            <a:pPr>
              <a:spcAft>
                <a:spcPts val="600"/>
              </a:spcAft>
              <a:defRPr>
                <a:latin typeface="Arial"/>
              </a:defRPr>
            </a:pPr>
            <a:r>
              <a:rPr b="1" sz="1200">
                <a:solidFill>
                  <a:srgbClr val="0F172A"/>
                </a:solidFill>
              </a:rPr>
              <a:t>• Chief Complaint Intake: </a:t>
            </a:r>
            <a:r>
              <a:rPr b="0" sz="1200">
                <a:solidFill>
                  <a:srgbClr val="475569"/>
                </a:solidFill>
              </a:rPr>
              <a:t>Start reasoning from patient's primary chief symptom.</a:t>
            </a:r>
          </a:p>
          <a:p>
            <a:pPr>
              <a:spcAft>
                <a:spcPts val="600"/>
              </a:spcAft>
              <a:defRPr>
                <a:latin typeface="Arial"/>
              </a:defRPr>
            </a:pPr>
            <a:r>
              <a:rPr b="1" sz="1200">
                <a:solidFill>
                  <a:srgbClr val="0F172A"/>
                </a:solidFill>
              </a:rPr>
              <a:t>• Targeted Backward Chaining: </a:t>
            </a:r>
            <a:r>
              <a:rPr b="0" sz="1200">
                <a:solidFill>
                  <a:srgbClr val="475569"/>
                </a:solidFill>
              </a:rPr>
              <a:t>Ask only relevant follow-up questions for viable candidate rules.</a:t>
            </a:r>
          </a:p>
          <a:p>
            <a:pPr>
              <a:spcAft>
                <a:spcPts val="600"/>
              </a:spcAft>
              <a:defRPr>
                <a:latin typeface="Arial"/>
              </a:defRPr>
            </a:pPr>
            <a:r>
              <a:rPr b="1" sz="1200">
                <a:solidFill>
                  <a:srgbClr val="0F172A"/>
                </a:solidFill>
              </a:rPr>
              <a:t>• Explainable AI: </a:t>
            </a:r>
            <a:r>
              <a:rPr b="0" sz="1200">
                <a:solidFill>
                  <a:srgbClr val="475569"/>
                </a:solidFill>
              </a:rPr>
              <a:t>Provide instant WHY and HOW explanations for complete transparency.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Certainty Factor (CF) Mathematics &amp; Rules</a:t>
            </a:r>
          </a:p>
        </p:txBody>
      </p:sp>
      <p:sp>
        <p:nvSpPr>
          <p:cNvPr id="4" name="Rounded Rectangle 3"/>
          <p:cNvSpPr/>
          <p:nvPr/>
        </p:nvSpPr>
        <p:spPr>
          <a:xfrm>
            <a:off x="731520" y="1463040"/>
            <a:ext cx="51206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spcAft>
                <a:spcPts val="1000"/>
              </a:spcAft>
              <a:defRPr sz="1600" b="1">
                <a:solidFill>
                  <a:srgbClr val="0EA5E9"/>
                </a:solidFill>
                <a:latin typeface="Arial"/>
              </a:defRPr>
            </a:pPr>
            <a:r>
              <a:t>Certainty Factor Input Values</a:t>
            </a:r>
          </a:p>
          <a:p>
            <a:pPr>
              <a:spcAft>
                <a:spcPts val="600"/>
              </a:spcAft>
              <a:defRPr>
                <a:latin typeface="Arial"/>
              </a:defRPr>
            </a:pPr>
            <a:r>
              <a:rPr b="1" sz="1200">
                <a:solidFill>
                  <a:srgbClr val="0F172A"/>
                </a:solidFill>
              </a:rPr>
              <a:t>• CF = 1.0 (Yes / Confirmed): </a:t>
            </a:r>
            <a:r>
              <a:rPr b="0" sz="1200">
                <a:solidFill>
                  <a:srgbClr val="475569"/>
                </a:solidFill>
              </a:rPr>
              <a:t>Symptom is definitely present. Multiplies running CF by 1.0.</a:t>
            </a:r>
          </a:p>
          <a:p>
            <a:pPr>
              <a:spcAft>
                <a:spcPts val="600"/>
              </a:spcAft>
              <a:defRPr>
                <a:latin typeface="Arial"/>
              </a:defRPr>
            </a:pPr>
            <a:r>
              <a:rPr b="1" sz="1200">
                <a:solidFill>
                  <a:srgbClr val="0F172A"/>
                </a:solidFill>
              </a:rPr>
              <a:t>• CF = 0.5 (Maybe / Uncertain): </a:t>
            </a:r>
            <a:r>
              <a:rPr b="0" sz="1200">
                <a:solidFill>
                  <a:srgbClr val="475569"/>
                </a:solidFill>
              </a:rPr>
              <a:t>Symptom is uncertain. Multiplies running CF by 0.5, reducing overall certainty.</a:t>
            </a:r>
          </a:p>
          <a:p>
            <a:pPr>
              <a:spcAft>
                <a:spcPts val="600"/>
              </a:spcAft>
              <a:defRPr>
                <a:latin typeface="Arial"/>
              </a:defRPr>
            </a:pPr>
            <a:r>
              <a:rPr b="1" sz="1200">
                <a:solidFill>
                  <a:srgbClr val="0F172A"/>
                </a:solidFill>
              </a:rPr>
              <a:t>• CF = 0.0 (No / Absent): </a:t>
            </a:r>
            <a:r>
              <a:rPr b="0" sz="1200">
                <a:solidFill>
                  <a:srgbClr val="475569"/>
                </a:solidFill>
              </a:rPr>
              <a:t>Symptom is absent. Multiplies running CF by 0.0, immediately ruling out the disease.</a:t>
            </a:r>
          </a:p>
          <a:p>
            <a:pPr>
              <a:spcAft>
                <a:spcPts val="600"/>
              </a:spcAft>
              <a:defRPr>
                <a:latin typeface="Arial"/>
              </a:defRPr>
            </a:pPr>
            <a:r>
              <a:rPr b="1" sz="1200">
                <a:solidFill>
                  <a:srgbClr val="0F172A"/>
                </a:solidFill>
              </a:rPr>
              <a:t>• Prior Rule Confidence: </a:t>
            </a:r>
            <a:r>
              <a:rPr b="0" sz="1200">
                <a:solidFill>
                  <a:srgbClr val="475569"/>
                </a:solidFill>
              </a:rPr>
              <a:t>Each disease rule starts with an expert prior confidence (e.g. Malaria: 0.90, Common Cold: 0.95).</a:t>
            </a:r>
          </a:p>
        </p:txBody>
      </p:sp>
      <p:sp>
        <p:nvSpPr>
          <p:cNvPr id="6" name="Rounded Rectangle 5"/>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spcAft>
                <a:spcPts val="1000"/>
              </a:spcAft>
              <a:defRPr sz="1600" b="1">
                <a:solidFill>
                  <a:srgbClr val="10B981"/>
                </a:solidFill>
                <a:latin typeface="Arial"/>
              </a:defRPr>
            </a:pPr>
            <a:r>
              <a:t>Reasoning Chain Formula</a:t>
            </a:r>
          </a:p>
          <a:p>
            <a:pPr>
              <a:spcAft>
                <a:spcPts val="600"/>
              </a:spcAft>
              <a:defRPr>
                <a:latin typeface="Arial"/>
              </a:defRPr>
            </a:pPr>
            <a:r>
              <a:rPr b="1" sz="1200">
                <a:solidFill>
                  <a:srgbClr val="0F172A"/>
                </a:solidFill>
              </a:rPr>
              <a:t>• Multiplicative Combination: </a:t>
            </a:r>
            <a:r>
              <a:rPr b="0" sz="1200">
                <a:solidFill>
                  <a:srgbClr val="475569"/>
                </a:solidFill>
              </a:rPr>
              <a:t>CF_final = CF_rule * CF_symptom1 * CF_symptom2 * ... * CF_symptomN.</a:t>
            </a:r>
          </a:p>
          <a:p>
            <a:pPr>
              <a:spcAft>
                <a:spcPts val="600"/>
              </a:spcAft>
              <a:defRPr>
                <a:latin typeface="Arial"/>
              </a:defRPr>
            </a:pPr>
            <a:r>
              <a:rPr b="1" sz="1200">
                <a:solidFill>
                  <a:srgbClr val="0F172A"/>
                </a:solidFill>
              </a:rPr>
              <a:t>• Strict Monotonicity: </a:t>
            </a:r>
            <a:r>
              <a:rPr b="0" sz="1200">
                <a:solidFill>
                  <a:srgbClr val="475569"/>
                </a:solidFill>
              </a:rPr>
              <a:t>Each additional uncertain evidence step can only maintain or decrease total confidence.</a:t>
            </a:r>
          </a:p>
          <a:p>
            <a:pPr>
              <a:spcAft>
                <a:spcPts val="600"/>
              </a:spcAft>
              <a:defRPr>
                <a:latin typeface="Arial"/>
              </a:defRPr>
            </a:pPr>
            <a:r>
              <a:rPr b="1" sz="1200">
                <a:solidFill>
                  <a:srgbClr val="0F172A"/>
                </a:solidFill>
              </a:rPr>
              <a:t>• Early Disqualification: </a:t>
            </a:r>
            <a:r>
              <a:rPr b="0" sz="1200">
                <a:solidFill>
                  <a:srgbClr val="475569"/>
                </a:solidFill>
              </a:rPr>
              <a:t>A single negative answer (CF = 0.0) short-circuits further questions for that rule.</a:t>
            </a:r>
          </a:p>
          <a:p>
            <a:pPr>
              <a:spcAft>
                <a:spcPts val="600"/>
              </a:spcAft>
              <a:defRPr>
                <a:latin typeface="Arial"/>
              </a:defRPr>
            </a:pPr>
            <a:r>
              <a:rPr b="1" sz="1200">
                <a:solidFill>
                  <a:srgbClr val="0F172A"/>
                </a:solidFill>
              </a:rPr>
              <a:t>• Hypothesis Ranking: </a:t>
            </a:r>
            <a:r>
              <a:rPr b="0" sz="1200">
                <a:solidFill>
                  <a:srgbClr val="475569"/>
                </a:solidFill>
              </a:rPr>
              <a:t>Candidate diagnoses are ranked by surviving final CF to determine the top winner.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Knowledge Base Structure &amp; Fact Store</a:t>
            </a:r>
          </a:p>
        </p:txBody>
      </p:sp>
      <p:sp>
        <p:nvSpPr>
          <p:cNvPr id="4" name="Rounded Rectangle 3"/>
          <p:cNvSpPr/>
          <p:nvPr/>
        </p:nvSpPr>
        <p:spPr>
          <a:xfrm>
            <a:off x="7315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480560"/>
          </a:xfrm>
          <a:prstGeom prst="rect">
            <a:avLst/>
          </a:prstGeom>
          <a:noFill/>
        </p:spPr>
        <p:txBody>
          <a:bodyPr wrap="square">
            <a:spAutoFit/>
          </a:bodyPr>
          <a:lstStyle/>
          <a:p>
            <a:pPr>
              <a:spcAft>
                <a:spcPts val="1000"/>
              </a:spcAft>
              <a:defRPr sz="1600" b="1">
                <a:solidFill>
                  <a:srgbClr val="6366F1"/>
                </a:solidFill>
                <a:latin typeface="Arial"/>
              </a:defRPr>
            </a:pPr>
            <a:r>
              <a:t>1. Symbolic Fact Store</a:t>
            </a:r>
          </a:p>
          <a:p>
            <a:pPr>
              <a:spcAft>
                <a:spcPts val="600"/>
              </a:spcAft>
              <a:defRPr>
                <a:latin typeface="Arial"/>
              </a:defRPr>
            </a:pPr>
            <a:r>
              <a:rPr b="1" sz="1200">
                <a:solidFill>
                  <a:srgbClr val="0F172A"/>
                </a:solidFill>
              </a:rPr>
              <a:t>• Kanren Relation: </a:t>
            </a:r>
            <a:r>
              <a:rPr b="0" sz="1200">
                <a:solidFill>
                  <a:srgbClr val="475569"/>
                </a:solidFill>
              </a:rPr>
              <a:t>has_symptom Relation() acts as a symbolic fact store.</a:t>
            </a:r>
          </a:p>
          <a:p>
            <a:pPr>
              <a:spcAft>
                <a:spcPts val="600"/>
              </a:spcAft>
              <a:defRPr>
                <a:latin typeface="Arial"/>
              </a:defRPr>
            </a:pPr>
            <a:r>
              <a:rPr b="1" sz="1200">
                <a:solidFill>
                  <a:srgbClr val="0F172A"/>
                </a:solidFill>
              </a:rPr>
              <a:t>• Assert Symptom Helper: </a:t>
            </a:r>
            <a:r>
              <a:rPr b="0" sz="1200">
                <a:solidFill>
                  <a:srgbClr val="475569"/>
                </a:solidFill>
              </a:rPr>
              <a:t>assert_symptom() records confirmed symptoms.</a:t>
            </a:r>
          </a:p>
          <a:p>
            <a:pPr>
              <a:spcAft>
                <a:spcPts val="600"/>
              </a:spcAft>
              <a:defRPr>
                <a:latin typeface="Arial"/>
              </a:defRPr>
            </a:pPr>
            <a:r>
              <a:rPr b="1" sz="1200">
                <a:solidFill>
                  <a:srgbClr val="0F172A"/>
                </a:solidFill>
              </a:rPr>
              <a:t>• Confidence Filter: </a:t>
            </a:r>
            <a:r>
              <a:rPr b="0" sz="1200">
                <a:solidFill>
                  <a:srgbClr val="475569"/>
                </a:solidFill>
              </a:rPr>
              <a:t>Only symptoms with CF &gt; 0.0 are added as Kanren facts.</a:t>
            </a:r>
          </a:p>
        </p:txBody>
      </p:sp>
      <p:sp>
        <p:nvSpPr>
          <p:cNvPr id="6" name="Rounded Rectangle 5"/>
          <p:cNvSpPr/>
          <p:nvPr/>
        </p:nvSpPr>
        <p:spPr>
          <a:xfrm>
            <a:off x="43891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480560"/>
          </a:xfrm>
          <a:prstGeom prst="rect">
            <a:avLst/>
          </a:prstGeom>
          <a:noFill/>
        </p:spPr>
        <p:txBody>
          <a:bodyPr wrap="square">
            <a:spAutoFit/>
          </a:bodyPr>
          <a:lstStyle/>
          <a:p>
            <a:pPr>
              <a:spcAft>
                <a:spcPts val="1000"/>
              </a:spcAft>
              <a:defRPr sz="1600" b="1">
                <a:solidFill>
                  <a:srgbClr val="0EA5E9"/>
                </a:solidFill>
                <a:latin typeface="Arial"/>
              </a:defRPr>
            </a:pPr>
            <a:r>
              <a:t>2. Diagnostic Rule Mapping</a:t>
            </a:r>
          </a:p>
          <a:p>
            <a:pPr>
              <a:spcAft>
                <a:spcPts val="600"/>
              </a:spcAft>
              <a:defRPr>
                <a:latin typeface="Arial"/>
              </a:defRPr>
            </a:pPr>
            <a:r>
              <a:rPr b="1" sz="1200">
                <a:solidFill>
                  <a:srgbClr val="0F172A"/>
                </a:solidFill>
              </a:rPr>
              <a:t>• DISEASE_RULES Dict: </a:t>
            </a:r>
            <a:r>
              <a:rPr b="0" sz="1200">
                <a:solidFill>
                  <a:srgbClr val="475569"/>
                </a:solidFill>
              </a:rPr>
              <a:t>Maps disease names to required symptom lists.</a:t>
            </a:r>
          </a:p>
          <a:p>
            <a:pPr>
              <a:spcAft>
                <a:spcPts val="600"/>
              </a:spcAft>
              <a:defRPr>
                <a:latin typeface="Arial"/>
              </a:defRPr>
            </a:pPr>
            <a:r>
              <a:rPr b="1" sz="1200">
                <a:solidFill>
                  <a:srgbClr val="0F172A"/>
                </a:solidFill>
              </a:rPr>
              <a:t>• Infectious Diseases: </a:t>
            </a:r>
            <a:r>
              <a:rPr b="0" sz="1200">
                <a:solidFill>
                  <a:srgbClr val="475569"/>
                </a:solidFill>
              </a:rPr>
              <a:t>Malaria, Typhoid, Influenza, Dengue, Cholera, Tuberculosis, COVID-19.</a:t>
            </a:r>
          </a:p>
          <a:p>
            <a:pPr>
              <a:spcAft>
                <a:spcPts val="600"/>
              </a:spcAft>
              <a:defRPr>
                <a:latin typeface="Arial"/>
              </a:defRPr>
            </a:pPr>
            <a:r>
              <a:rPr b="1" sz="1200">
                <a:solidFill>
                  <a:srgbClr val="0F172A"/>
                </a:solidFill>
              </a:rPr>
              <a:t>• Chronic Conditions: </a:t>
            </a:r>
            <a:r>
              <a:rPr b="0" sz="1200">
                <a:solidFill>
                  <a:srgbClr val="475569"/>
                </a:solidFill>
              </a:rPr>
              <a:t>Type 2 Diabetes, Hypertension, Asthma, Migraine, Anemia.</a:t>
            </a:r>
          </a:p>
        </p:txBody>
      </p:sp>
      <p:sp>
        <p:nvSpPr>
          <p:cNvPr id="8" name="Rounded Rectangle 7"/>
          <p:cNvSpPr/>
          <p:nvPr/>
        </p:nvSpPr>
        <p:spPr>
          <a:xfrm>
            <a:off x="8046720" y="146304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480560"/>
          </a:xfrm>
          <a:prstGeom prst="rect">
            <a:avLst/>
          </a:prstGeom>
          <a:noFill/>
        </p:spPr>
        <p:txBody>
          <a:bodyPr wrap="square">
            <a:spAutoFit/>
          </a:bodyPr>
          <a:lstStyle/>
          <a:p>
            <a:pPr>
              <a:spcAft>
                <a:spcPts val="1000"/>
              </a:spcAft>
              <a:defRPr sz="1600" b="1">
                <a:solidFill>
                  <a:srgbClr val="10B981"/>
                </a:solidFill>
                <a:latin typeface="Arial"/>
              </a:defRPr>
            </a:pPr>
            <a:r>
              <a:t>3. Rule Confidence Priors</a:t>
            </a:r>
          </a:p>
          <a:p>
            <a:pPr>
              <a:spcAft>
                <a:spcPts val="600"/>
              </a:spcAft>
              <a:defRPr>
                <a:latin typeface="Arial"/>
              </a:defRPr>
            </a:pPr>
            <a:r>
              <a:rPr b="1" sz="1200">
                <a:solidFill>
                  <a:srgbClr val="0F172A"/>
                </a:solidFill>
              </a:rPr>
              <a:t>• Malaria Rule Prior: </a:t>
            </a:r>
            <a:r>
              <a:rPr b="0" sz="1200">
                <a:solidFill>
                  <a:srgbClr val="475569"/>
                </a:solidFill>
              </a:rPr>
              <a:t>Base confidence = 0.90</a:t>
            </a:r>
          </a:p>
          <a:p>
            <a:pPr>
              <a:spcAft>
                <a:spcPts val="600"/>
              </a:spcAft>
              <a:defRPr>
                <a:latin typeface="Arial"/>
              </a:defRPr>
            </a:pPr>
            <a:r>
              <a:rPr b="1" sz="1200">
                <a:solidFill>
                  <a:srgbClr val="0F172A"/>
                </a:solidFill>
              </a:rPr>
              <a:t>• Common Cold Prior: </a:t>
            </a:r>
            <a:r>
              <a:rPr b="0" sz="1200">
                <a:solidFill>
                  <a:srgbClr val="475569"/>
                </a:solidFill>
              </a:rPr>
              <a:t>Base confidence = 0.95</a:t>
            </a:r>
          </a:p>
          <a:p>
            <a:pPr>
              <a:spcAft>
                <a:spcPts val="600"/>
              </a:spcAft>
              <a:defRPr>
                <a:latin typeface="Arial"/>
              </a:defRPr>
            </a:pPr>
            <a:r>
              <a:rPr b="1" sz="1200">
                <a:solidFill>
                  <a:srgbClr val="0F172A"/>
                </a:solidFill>
              </a:rPr>
              <a:t>• Typhoid Prior: </a:t>
            </a:r>
            <a:r>
              <a:rPr b="0" sz="1200">
                <a:solidFill>
                  <a:srgbClr val="475569"/>
                </a:solidFill>
              </a:rPr>
              <a:t>Base confidence = 0.85</a:t>
            </a:r>
          </a:p>
          <a:p>
            <a:pPr>
              <a:spcAft>
                <a:spcPts val="600"/>
              </a:spcAft>
              <a:defRPr>
                <a:latin typeface="Arial"/>
              </a:defRPr>
            </a:pPr>
            <a:r>
              <a:rPr b="1" sz="1200">
                <a:solidFill>
                  <a:srgbClr val="0F172A"/>
                </a:solidFill>
              </a:rPr>
              <a:t>• Influenza Prior: </a:t>
            </a:r>
            <a:r>
              <a:rPr b="0" sz="1200">
                <a:solidFill>
                  <a:srgbClr val="475569"/>
                </a:solidFill>
              </a:rPr>
              <a:t>Base confidence = 0.80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Explanation Facilities (WHY &amp; HOW)</a:t>
            </a:r>
          </a:p>
        </p:txBody>
      </p:sp>
      <p:sp>
        <p:nvSpPr>
          <p:cNvPr id="4" name="Rounded Rectangle 3"/>
          <p:cNvSpPr/>
          <p:nvPr/>
        </p:nvSpPr>
        <p:spPr>
          <a:xfrm>
            <a:off x="731520" y="1463040"/>
            <a:ext cx="51206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spcAft>
                <a:spcPts val="1000"/>
              </a:spcAft>
              <a:defRPr sz="1600" b="1">
                <a:solidFill>
                  <a:srgbClr val="0EA5E9"/>
                </a:solidFill>
                <a:latin typeface="Arial"/>
              </a:defRPr>
            </a:pPr>
            <a:r>
              <a:t>WHY Explanation Facility</a:t>
            </a:r>
          </a:p>
          <a:p>
            <a:pPr>
              <a:spcAft>
                <a:spcPts val="600"/>
              </a:spcAft>
              <a:defRPr>
                <a:latin typeface="Arial"/>
              </a:defRPr>
            </a:pPr>
            <a:r>
              <a:rPr b="1" sz="1200">
                <a:solidFill>
                  <a:srgbClr val="0F172A"/>
                </a:solidFill>
              </a:rPr>
              <a:t>• Trigger Condition: </a:t>
            </a:r>
            <a:r>
              <a:rPr b="0" sz="1200">
                <a:solidFill>
                  <a:srgbClr val="475569"/>
                </a:solidFill>
              </a:rPr>
              <a:t>Activated whenever the user types 'why' during follow-up questioning.</a:t>
            </a:r>
          </a:p>
          <a:p>
            <a:pPr>
              <a:spcAft>
                <a:spcPts val="600"/>
              </a:spcAft>
              <a:defRPr>
                <a:latin typeface="Arial"/>
              </a:defRPr>
            </a:pPr>
            <a:r>
              <a:rPr b="1" sz="1200">
                <a:solidFill>
                  <a:srgbClr val="0F172A"/>
                </a:solidFill>
              </a:rPr>
              <a:t>• Function Signature: </a:t>
            </a:r>
            <a:r>
              <a:rPr b="0" sz="1200">
                <a:solidFill>
                  <a:srgbClr val="475569"/>
                </a:solidFill>
              </a:rPr>
              <a:t>explain_why(symptom_name, hypothesis_disease)</a:t>
            </a:r>
          </a:p>
          <a:p>
            <a:pPr>
              <a:spcAft>
                <a:spcPts val="600"/>
              </a:spcAft>
              <a:defRPr>
                <a:latin typeface="Arial"/>
              </a:defRPr>
            </a:pPr>
            <a:r>
              <a:rPr b="1" sz="1200">
                <a:solidFill>
                  <a:srgbClr val="0F172A"/>
                </a:solidFill>
              </a:rPr>
              <a:t>• Clinical Rationale: </a:t>
            </a:r>
            <a:r>
              <a:rPr b="0" sz="1200">
                <a:solidFill>
                  <a:srgbClr val="475569"/>
                </a:solidFill>
              </a:rPr>
              <a:t>Explains which disease hypothesis the system is currently testing and why that specific symptom matters.</a:t>
            </a:r>
          </a:p>
          <a:p>
            <a:pPr>
              <a:spcAft>
                <a:spcPts val="600"/>
              </a:spcAft>
              <a:defRPr>
                <a:latin typeface="Arial"/>
              </a:defRPr>
            </a:pPr>
            <a:r>
              <a:rPr b="1" sz="1200">
                <a:solidFill>
                  <a:srgbClr val="0F172A"/>
                </a:solidFill>
              </a:rPr>
              <a:t>• User Transparency: </a:t>
            </a:r>
            <a:r>
              <a:rPr b="0" sz="1200">
                <a:solidFill>
                  <a:srgbClr val="475569"/>
                </a:solidFill>
              </a:rPr>
              <a:t>Eliminates mystery during questioning by explaining the reasoning context.</a:t>
            </a:r>
          </a:p>
        </p:txBody>
      </p:sp>
      <p:sp>
        <p:nvSpPr>
          <p:cNvPr id="6" name="Rounded Rectangle 5"/>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spcAft>
                <a:spcPts val="1000"/>
              </a:spcAft>
              <a:defRPr sz="1600" b="1">
                <a:solidFill>
                  <a:srgbClr val="10B981"/>
                </a:solidFill>
                <a:latin typeface="Arial"/>
              </a:defRPr>
            </a:pPr>
            <a:r>
              <a:t>HOW Explanation Facility</a:t>
            </a:r>
          </a:p>
          <a:p>
            <a:pPr>
              <a:spcAft>
                <a:spcPts val="600"/>
              </a:spcAft>
              <a:defRPr>
                <a:latin typeface="Arial"/>
              </a:defRPr>
            </a:pPr>
            <a:r>
              <a:rPr b="1" sz="1200">
                <a:solidFill>
                  <a:srgbClr val="0F172A"/>
                </a:solidFill>
              </a:rPr>
              <a:t>• Trigger Condition: </a:t>
            </a:r>
            <a:r>
              <a:rPr b="0" sz="1200">
                <a:solidFill>
                  <a:srgbClr val="475569"/>
                </a:solidFill>
              </a:rPr>
              <a:t>Activated automatically once a final diagnosis is concluded.</a:t>
            </a:r>
          </a:p>
          <a:p>
            <a:pPr>
              <a:spcAft>
                <a:spcPts val="600"/>
              </a:spcAft>
              <a:defRPr>
                <a:latin typeface="Arial"/>
              </a:defRPr>
            </a:pPr>
            <a:r>
              <a:rPr b="1" sz="1200">
                <a:solidFill>
                  <a:srgbClr val="0F172A"/>
                </a:solidFill>
              </a:rPr>
              <a:t>• Function Signature: </a:t>
            </a:r>
            <a:r>
              <a:rPr b="0" sz="1200">
                <a:solidFill>
                  <a:srgbClr val="475569"/>
                </a:solidFill>
              </a:rPr>
              <a:t>explain_how(diagnosed_disease, final_cf, rule_cf)</a:t>
            </a:r>
          </a:p>
          <a:p>
            <a:pPr>
              <a:spcAft>
                <a:spcPts val="600"/>
              </a:spcAft>
              <a:defRPr>
                <a:latin typeface="Arial"/>
              </a:defRPr>
            </a:pPr>
            <a:r>
              <a:rPr b="1" sz="1200">
                <a:solidFill>
                  <a:srgbClr val="0F172A"/>
                </a:solidFill>
              </a:rPr>
              <a:t>• Multiplication Breakdown: </a:t>
            </a:r>
            <a:r>
              <a:rPr b="0" sz="1200">
                <a:solidFill>
                  <a:srgbClr val="475569"/>
                </a:solidFill>
              </a:rPr>
              <a:t>Lists base rule confidence and individual confirmed symptom CF values.</a:t>
            </a:r>
          </a:p>
          <a:p>
            <a:pPr>
              <a:spcAft>
                <a:spcPts val="600"/>
              </a:spcAft>
              <a:defRPr>
                <a:latin typeface="Arial"/>
              </a:defRPr>
            </a:pPr>
            <a:r>
              <a:rPr b="1" sz="1200">
                <a:solidFill>
                  <a:srgbClr val="0F172A"/>
                </a:solidFill>
              </a:rPr>
              <a:t>• Full Traceability: </a:t>
            </a:r>
            <a:r>
              <a:rPr b="0" sz="1200">
                <a:solidFill>
                  <a:srgbClr val="475569"/>
                </a:solidFill>
              </a:rPr>
              <a:t>Shows the exact step-by-step mathematical derivation of the final CF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Backward Chaining Inference Engine</a:t>
            </a:r>
          </a:p>
        </p:txBody>
      </p:sp>
      <p:sp>
        <p:nvSpPr>
          <p:cNvPr id="4" name="Rounded Rectangle 3"/>
          <p:cNvSpPr/>
          <p:nvPr/>
        </p:nvSpPr>
        <p:spPr>
          <a:xfrm>
            <a:off x="7315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480560"/>
          </a:xfrm>
          <a:prstGeom prst="rect">
            <a:avLst/>
          </a:prstGeom>
          <a:noFill/>
        </p:spPr>
        <p:txBody>
          <a:bodyPr wrap="square">
            <a:spAutoFit/>
          </a:bodyPr>
          <a:lstStyle/>
          <a:p>
            <a:pPr>
              <a:spcAft>
                <a:spcPts val="1000"/>
              </a:spcAft>
              <a:defRPr sz="1600" b="1">
                <a:solidFill>
                  <a:srgbClr val="0EA5E9"/>
                </a:solidFill>
                <a:latin typeface="Arial"/>
              </a:defRPr>
            </a:pPr>
            <a:r>
              <a:t>Phase 1: Chief Complaint</a:t>
            </a:r>
          </a:p>
          <a:p>
            <a:pPr>
              <a:spcAft>
                <a:spcPts val="600"/>
              </a:spcAft>
              <a:defRPr>
                <a:latin typeface="Arial"/>
              </a:defRPr>
            </a:pPr>
            <a:r>
              <a:rPr b="1" sz="1200">
                <a:solidFill>
                  <a:srgbClr val="0F172A"/>
                </a:solidFill>
              </a:rPr>
              <a:t>• Primary Symptom Input: </a:t>
            </a:r>
            <a:r>
              <a:rPr b="0" sz="1200">
                <a:solidFill>
                  <a:srgbClr val="475569"/>
                </a:solidFill>
              </a:rPr>
              <a:t>User enters chief complaint (e.g. fever, runny_nose).</a:t>
            </a:r>
          </a:p>
          <a:p>
            <a:pPr>
              <a:spcAft>
                <a:spcPts val="600"/>
              </a:spcAft>
              <a:defRPr>
                <a:latin typeface="Arial"/>
              </a:defRPr>
            </a:pPr>
            <a:r>
              <a:rPr b="1" sz="1200">
                <a:solidFill>
                  <a:srgbClr val="0F172A"/>
                </a:solidFill>
              </a:rPr>
              <a:t>• 100% Certainty Assert: </a:t>
            </a:r>
            <a:r>
              <a:rPr b="0" sz="1200">
                <a:solidFill>
                  <a:srgbClr val="475569"/>
                </a:solidFill>
              </a:rPr>
              <a:t>Chief complaint is asserted with CF = 1.0.</a:t>
            </a:r>
          </a:p>
          <a:p>
            <a:pPr>
              <a:spcAft>
                <a:spcPts val="600"/>
              </a:spcAft>
              <a:defRPr>
                <a:latin typeface="Arial"/>
              </a:defRPr>
            </a:pPr>
            <a:r>
              <a:rPr b="1" sz="1200">
                <a:solidFill>
                  <a:srgbClr val="0F172A"/>
                </a:solidFill>
              </a:rPr>
              <a:t>• Candidate Matching: </a:t>
            </a:r>
            <a:r>
              <a:rPr b="0" sz="1200">
                <a:solidFill>
                  <a:srgbClr val="475569"/>
                </a:solidFill>
              </a:rPr>
              <a:t>Identifies all disease rules containing the chief complaint.</a:t>
            </a:r>
          </a:p>
        </p:txBody>
      </p:sp>
      <p:sp>
        <p:nvSpPr>
          <p:cNvPr id="6" name="Rounded Rectangle 5"/>
          <p:cNvSpPr/>
          <p:nvPr/>
        </p:nvSpPr>
        <p:spPr>
          <a:xfrm>
            <a:off x="4389120" y="1463040"/>
            <a:ext cx="32918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480560"/>
          </a:xfrm>
          <a:prstGeom prst="rect">
            <a:avLst/>
          </a:prstGeom>
          <a:noFill/>
        </p:spPr>
        <p:txBody>
          <a:bodyPr wrap="square">
            <a:spAutoFit/>
          </a:bodyPr>
          <a:lstStyle/>
          <a:p>
            <a:pPr>
              <a:spcAft>
                <a:spcPts val="1000"/>
              </a:spcAft>
              <a:defRPr sz="1600" b="1">
                <a:solidFill>
                  <a:srgbClr val="6366F1"/>
                </a:solidFill>
                <a:latin typeface="Arial"/>
              </a:defRPr>
            </a:pPr>
            <a:r>
              <a:t>Phase 2: Target Questioning</a:t>
            </a:r>
          </a:p>
          <a:p>
            <a:pPr>
              <a:spcAft>
                <a:spcPts val="600"/>
              </a:spcAft>
              <a:defRPr>
                <a:latin typeface="Arial"/>
              </a:defRPr>
            </a:pPr>
            <a:r>
              <a:rPr b="1" sz="1200">
                <a:solidFill>
                  <a:srgbClr val="0F172A"/>
                </a:solidFill>
              </a:rPr>
              <a:t>• Sequential Iteration: </a:t>
            </a:r>
            <a:r>
              <a:rPr b="0" sz="1200">
                <a:solidFill>
                  <a:srgbClr val="475569"/>
                </a:solidFill>
              </a:rPr>
              <a:t>Loops through required symptoms for candidate rules.</a:t>
            </a:r>
          </a:p>
          <a:p>
            <a:pPr>
              <a:spcAft>
                <a:spcPts val="600"/>
              </a:spcAft>
              <a:defRPr>
                <a:latin typeface="Arial"/>
              </a:defRPr>
            </a:pPr>
            <a:r>
              <a:rPr b="1" sz="1200">
                <a:solidFill>
                  <a:srgbClr val="0F172A"/>
                </a:solidFill>
              </a:rPr>
              <a:t>• Answer Options: </a:t>
            </a:r>
            <a:r>
              <a:rPr b="0" sz="1200">
                <a:solidFill>
                  <a:srgbClr val="475569"/>
                </a:solidFill>
              </a:rPr>
              <a:t>Prompts for 'yes' (1.0), 'no' (0.0), 'maybe' (0.5), or 'why'.</a:t>
            </a:r>
          </a:p>
          <a:p>
            <a:pPr>
              <a:spcAft>
                <a:spcPts val="600"/>
              </a:spcAft>
              <a:defRPr>
                <a:latin typeface="Arial"/>
              </a:defRPr>
            </a:pPr>
            <a:r>
              <a:rPr b="1" sz="1200">
                <a:solidFill>
                  <a:srgbClr val="0F172A"/>
                </a:solidFill>
              </a:rPr>
              <a:t>• Early Exit: </a:t>
            </a:r>
            <a:r>
              <a:rPr b="0" sz="1200">
                <a:solidFill>
                  <a:srgbClr val="475569"/>
                </a:solidFill>
              </a:rPr>
              <a:t>Breaks immediately if symptom CF = 0.0 (hypothesis disqualified).</a:t>
            </a:r>
          </a:p>
        </p:txBody>
      </p:sp>
      <p:sp>
        <p:nvSpPr>
          <p:cNvPr id="8" name="Rounded Rectangle 7"/>
          <p:cNvSpPr/>
          <p:nvPr/>
        </p:nvSpPr>
        <p:spPr>
          <a:xfrm>
            <a:off x="8046720" y="146304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480560"/>
          </a:xfrm>
          <a:prstGeom prst="rect">
            <a:avLst/>
          </a:prstGeom>
          <a:noFill/>
        </p:spPr>
        <p:txBody>
          <a:bodyPr wrap="square">
            <a:spAutoFit/>
          </a:bodyPr>
          <a:lstStyle/>
          <a:p>
            <a:pPr>
              <a:spcAft>
                <a:spcPts val="1000"/>
              </a:spcAft>
              <a:defRPr sz="1600" b="1">
                <a:solidFill>
                  <a:srgbClr val="10B981"/>
                </a:solidFill>
                <a:latin typeface="Arial"/>
              </a:defRPr>
            </a:pPr>
            <a:r>
              <a:t>Phase 3: Candidate Ranking</a:t>
            </a:r>
          </a:p>
          <a:p>
            <a:pPr>
              <a:spcAft>
                <a:spcPts val="600"/>
              </a:spcAft>
              <a:defRPr>
                <a:latin typeface="Arial"/>
              </a:defRPr>
            </a:pPr>
            <a:r>
              <a:rPr b="1" sz="1200">
                <a:solidFill>
                  <a:srgbClr val="0F172A"/>
                </a:solidFill>
              </a:rPr>
              <a:t>• CF Accumulation: </a:t>
            </a:r>
            <a:r>
              <a:rPr b="0" sz="1200">
                <a:solidFill>
                  <a:srgbClr val="475569"/>
                </a:solidFill>
              </a:rPr>
              <a:t>Updates running current_cf via multiplication.</a:t>
            </a:r>
          </a:p>
          <a:p>
            <a:pPr>
              <a:spcAft>
                <a:spcPts val="600"/>
              </a:spcAft>
              <a:defRPr>
                <a:latin typeface="Arial"/>
              </a:defRPr>
            </a:pPr>
            <a:r>
              <a:rPr b="1" sz="1200">
                <a:solidFill>
                  <a:srgbClr val="0F172A"/>
                </a:solidFill>
              </a:rPr>
              <a:t>• Highest CF Selection: </a:t>
            </a:r>
            <a:r>
              <a:rPr b="0" sz="1200">
                <a:solidFill>
                  <a:srgbClr val="475569"/>
                </a:solidFill>
              </a:rPr>
              <a:t>Saves hypothesis with highest surviving CF score.</a:t>
            </a:r>
          </a:p>
          <a:p>
            <a:pPr>
              <a:spcAft>
                <a:spcPts val="600"/>
              </a:spcAft>
              <a:defRPr>
                <a:latin typeface="Arial"/>
              </a:defRPr>
            </a:pPr>
            <a:r>
              <a:rPr b="1" sz="1200">
                <a:solidFill>
                  <a:srgbClr val="0F172A"/>
                </a:solidFill>
              </a:rPr>
              <a:t>• Final Report: </a:t>
            </a:r>
            <a:r>
              <a:rPr b="0" sz="1200">
                <a:solidFill>
                  <a:srgbClr val="475569"/>
                </a:solidFill>
              </a:rPr>
              <a:t>Displays winning diagnosis with full HOW explanation trace.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Step-by-Step Interactive Workflow</a:t>
            </a:r>
          </a:p>
        </p:txBody>
      </p:sp>
      <p:sp>
        <p:nvSpPr>
          <p:cNvPr id="4" name="Rounded Rectangle 3"/>
          <p:cNvSpPr/>
          <p:nvPr/>
        </p:nvSpPr>
        <p:spPr>
          <a:xfrm>
            <a:off x="731520" y="1463040"/>
            <a:ext cx="24688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103120" cy="4480560"/>
          </a:xfrm>
          <a:prstGeom prst="rect">
            <a:avLst/>
          </a:prstGeom>
          <a:noFill/>
        </p:spPr>
        <p:txBody>
          <a:bodyPr wrap="square">
            <a:spAutoFit/>
          </a:bodyPr>
          <a:lstStyle/>
          <a:p>
            <a:pPr>
              <a:spcAft>
                <a:spcPts val="1000"/>
              </a:spcAft>
              <a:defRPr sz="1600" b="1">
                <a:solidFill>
                  <a:srgbClr val="6366F1"/>
                </a:solidFill>
                <a:latin typeface="Arial"/>
              </a:defRPr>
            </a:pPr>
            <a:r>
              <a:t>Step 1: Input</a:t>
            </a:r>
          </a:p>
          <a:p>
            <a:pPr>
              <a:spcAft>
                <a:spcPts val="600"/>
              </a:spcAft>
              <a:defRPr>
                <a:latin typeface="Arial"/>
              </a:defRPr>
            </a:pPr>
            <a:r>
              <a:rPr b="1" sz="1200">
                <a:solidFill>
                  <a:srgbClr val="0F172A"/>
                </a:solidFill>
              </a:rPr>
              <a:t>• Enter Complaint: </a:t>
            </a:r>
            <a:r>
              <a:rPr b="0" sz="1200">
                <a:solidFill>
                  <a:srgbClr val="475569"/>
                </a:solidFill>
              </a:rPr>
              <a:t>User enters primary chief symptom.</a:t>
            </a:r>
          </a:p>
          <a:p>
            <a:pPr>
              <a:spcAft>
                <a:spcPts val="600"/>
              </a:spcAft>
              <a:defRPr>
                <a:latin typeface="Arial"/>
              </a:defRPr>
            </a:pPr>
            <a:r>
              <a:rPr b="1" sz="1200">
                <a:solidFill>
                  <a:srgbClr val="0F172A"/>
                </a:solidFill>
              </a:rPr>
              <a:t>• Assert CF = 1.0: </a:t>
            </a:r>
            <a:r>
              <a:rPr b="0" sz="1200">
                <a:solidFill>
                  <a:srgbClr val="475569"/>
                </a:solidFill>
              </a:rPr>
              <a:t>System registers chief complaint.</a:t>
            </a:r>
          </a:p>
        </p:txBody>
      </p:sp>
      <p:sp>
        <p:nvSpPr>
          <p:cNvPr id="6" name="Rounded Rectangle 5"/>
          <p:cNvSpPr/>
          <p:nvPr/>
        </p:nvSpPr>
        <p:spPr>
          <a:xfrm>
            <a:off x="3474720" y="1463040"/>
            <a:ext cx="24688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645920"/>
            <a:ext cx="2103120" cy="4480560"/>
          </a:xfrm>
          <a:prstGeom prst="rect">
            <a:avLst/>
          </a:prstGeom>
          <a:noFill/>
        </p:spPr>
        <p:txBody>
          <a:bodyPr wrap="square">
            <a:spAutoFit/>
          </a:bodyPr>
          <a:lstStyle/>
          <a:p>
            <a:pPr>
              <a:spcAft>
                <a:spcPts val="1000"/>
              </a:spcAft>
              <a:defRPr sz="1600" b="1">
                <a:solidFill>
                  <a:srgbClr val="0EA5E9"/>
                </a:solidFill>
                <a:latin typeface="Arial"/>
              </a:defRPr>
            </a:pPr>
            <a:r>
              <a:t>Step 2: Match</a:t>
            </a:r>
          </a:p>
          <a:p>
            <a:pPr>
              <a:spcAft>
                <a:spcPts val="600"/>
              </a:spcAft>
              <a:defRPr>
                <a:latin typeface="Arial"/>
              </a:defRPr>
            </a:pPr>
            <a:r>
              <a:rPr b="1" sz="1200">
                <a:solidFill>
                  <a:srgbClr val="0F172A"/>
                </a:solidFill>
              </a:rPr>
              <a:t>• Filter Rules: </a:t>
            </a:r>
            <a:r>
              <a:rPr b="0" sz="1200">
                <a:solidFill>
                  <a:srgbClr val="475569"/>
                </a:solidFill>
              </a:rPr>
              <a:t>Locates candidate disease rules.</a:t>
            </a:r>
          </a:p>
          <a:p>
            <a:pPr>
              <a:spcAft>
                <a:spcPts val="600"/>
              </a:spcAft>
              <a:defRPr>
                <a:latin typeface="Arial"/>
              </a:defRPr>
            </a:pPr>
            <a:r>
              <a:rPr b="1" sz="1200">
                <a:solidFill>
                  <a:srgbClr val="0F172A"/>
                </a:solidFill>
              </a:rPr>
              <a:t>• Load Prior CF: </a:t>
            </a:r>
            <a:r>
              <a:rPr b="0" sz="1200">
                <a:solidFill>
                  <a:srgbClr val="475569"/>
                </a:solidFill>
              </a:rPr>
              <a:t>Initializes running CF with rule base confidence.</a:t>
            </a:r>
          </a:p>
        </p:txBody>
      </p:sp>
      <p:sp>
        <p:nvSpPr>
          <p:cNvPr id="8" name="Rounded Rectangle 7"/>
          <p:cNvSpPr/>
          <p:nvPr/>
        </p:nvSpPr>
        <p:spPr>
          <a:xfrm>
            <a:off x="6217920" y="1463040"/>
            <a:ext cx="24688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2103120" cy="4480560"/>
          </a:xfrm>
          <a:prstGeom prst="rect">
            <a:avLst/>
          </a:prstGeom>
          <a:noFill/>
        </p:spPr>
        <p:txBody>
          <a:bodyPr wrap="square">
            <a:spAutoFit/>
          </a:bodyPr>
          <a:lstStyle/>
          <a:p>
            <a:pPr>
              <a:spcAft>
                <a:spcPts val="1000"/>
              </a:spcAft>
              <a:defRPr sz="1600" b="1">
                <a:solidFill>
                  <a:srgbClr val="10B981"/>
                </a:solidFill>
                <a:latin typeface="Arial"/>
              </a:defRPr>
            </a:pPr>
            <a:r>
              <a:t>Step 3: Survey</a:t>
            </a:r>
          </a:p>
          <a:p>
            <a:pPr>
              <a:spcAft>
                <a:spcPts val="600"/>
              </a:spcAft>
              <a:defRPr>
                <a:latin typeface="Arial"/>
              </a:defRPr>
            </a:pPr>
            <a:r>
              <a:rPr b="1" sz="1200">
                <a:solidFill>
                  <a:srgbClr val="0F172A"/>
                </a:solidFill>
              </a:rPr>
              <a:t>• Prompt Follow-Up: </a:t>
            </a:r>
            <a:r>
              <a:rPr b="0" sz="1200">
                <a:solidFill>
                  <a:srgbClr val="475569"/>
                </a:solidFill>
              </a:rPr>
              <a:t>Ask 'yes'/'no'/'maybe'/'why'.</a:t>
            </a:r>
          </a:p>
          <a:p>
            <a:pPr>
              <a:spcAft>
                <a:spcPts val="600"/>
              </a:spcAft>
              <a:defRPr>
                <a:latin typeface="Arial"/>
              </a:defRPr>
            </a:pPr>
            <a:r>
              <a:rPr b="1" sz="1200">
                <a:solidFill>
                  <a:srgbClr val="0F172A"/>
                </a:solidFill>
              </a:rPr>
              <a:t>• Multiply CF: </a:t>
            </a:r>
            <a:r>
              <a:rPr b="0" sz="1200">
                <a:solidFill>
                  <a:srgbClr val="475569"/>
                </a:solidFill>
              </a:rPr>
              <a:t>Update running total; exit early if 'no'.</a:t>
            </a:r>
          </a:p>
        </p:txBody>
      </p:sp>
      <p:sp>
        <p:nvSpPr>
          <p:cNvPr id="10" name="Rounded Rectangle 9"/>
          <p:cNvSpPr/>
          <p:nvPr/>
        </p:nvSpPr>
        <p:spPr>
          <a:xfrm>
            <a:off x="8961120" y="1463040"/>
            <a:ext cx="24688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645920"/>
            <a:ext cx="2103120" cy="4480560"/>
          </a:xfrm>
          <a:prstGeom prst="rect">
            <a:avLst/>
          </a:prstGeom>
          <a:noFill/>
        </p:spPr>
        <p:txBody>
          <a:bodyPr wrap="square">
            <a:spAutoFit/>
          </a:bodyPr>
          <a:lstStyle/>
          <a:p>
            <a:pPr>
              <a:spcAft>
                <a:spcPts val="1000"/>
              </a:spcAft>
              <a:defRPr sz="1600" b="1">
                <a:solidFill>
                  <a:srgbClr val="6366F1"/>
                </a:solidFill>
                <a:latin typeface="Arial"/>
              </a:defRPr>
            </a:pPr>
            <a:r>
              <a:t>Step 4: Output</a:t>
            </a:r>
          </a:p>
          <a:p>
            <a:pPr>
              <a:spcAft>
                <a:spcPts val="600"/>
              </a:spcAft>
              <a:defRPr>
                <a:latin typeface="Arial"/>
              </a:defRPr>
            </a:pPr>
            <a:r>
              <a:rPr b="1" sz="1200">
                <a:solidFill>
                  <a:srgbClr val="0F172A"/>
                </a:solidFill>
              </a:rPr>
              <a:t>• Rank Candidates: </a:t>
            </a:r>
            <a:r>
              <a:rPr b="0" sz="1200">
                <a:solidFill>
                  <a:srgbClr val="475569"/>
                </a:solidFill>
              </a:rPr>
              <a:t>Select candidate with highest CF.</a:t>
            </a:r>
          </a:p>
          <a:p>
            <a:pPr>
              <a:spcAft>
                <a:spcPts val="600"/>
              </a:spcAft>
              <a:defRPr>
                <a:latin typeface="Arial"/>
              </a:defRPr>
            </a:pPr>
            <a:r>
              <a:rPr b="1" sz="1200">
                <a:solidFill>
                  <a:srgbClr val="0F172A"/>
                </a:solidFill>
              </a:rPr>
              <a:t>• Print HOW Trace: </a:t>
            </a:r>
            <a:r>
              <a:rPr b="0" sz="1200">
                <a:solidFill>
                  <a:srgbClr val="475569"/>
                </a:solidFill>
              </a:rPr>
              <a:t>Display full mathematical explanation.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A5E9"/>
                </a:solidFill>
                <a:latin typeface="Arial"/>
              </a:defRPr>
            </a:pPr>
            <a:r>
              <a:t>MEDICAL EXPERT SYSTEM (KBS) PRESENTATION</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0F172A"/>
                </a:solidFill>
                <a:latin typeface="Arial"/>
              </a:defRPr>
            </a:pPr>
            <a:r>
              <a:t>Key Findings &amp; Notebook Behavior</a:t>
            </a:r>
          </a:p>
        </p:txBody>
      </p:sp>
      <p:sp>
        <p:nvSpPr>
          <p:cNvPr id="4" name="Rounded Rectangle 3"/>
          <p:cNvSpPr/>
          <p:nvPr/>
        </p:nvSpPr>
        <p:spPr>
          <a:xfrm>
            <a:off x="731520" y="1463040"/>
            <a:ext cx="51206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spcAft>
                <a:spcPts val="1000"/>
              </a:spcAft>
              <a:defRPr sz="1600" b="1">
                <a:solidFill>
                  <a:srgbClr val="0EA5E9"/>
                </a:solidFill>
                <a:latin typeface="Arial"/>
              </a:defRPr>
            </a:pPr>
            <a:r>
              <a:t>Key Notebook Insights</a:t>
            </a:r>
          </a:p>
          <a:p>
            <a:pPr>
              <a:spcAft>
                <a:spcPts val="600"/>
              </a:spcAft>
              <a:defRPr>
                <a:latin typeface="Arial"/>
              </a:defRPr>
            </a:pPr>
            <a:r>
              <a:rPr b="1" sz="1200">
                <a:solidFill>
                  <a:srgbClr val="0F172A"/>
                </a:solidFill>
              </a:rPr>
              <a:t>• Deterministic Rule Evaluation: </a:t>
            </a:r>
            <a:r>
              <a:rPr b="0" sz="1200">
                <a:solidFill>
                  <a:srgbClr val="475569"/>
                </a:solidFill>
              </a:rPr>
              <a:t>Diseases are evaluated in dictionary insertion order (Malaria -&gt; Typhoid -&gt; Influenza -&gt; Common Cold).</a:t>
            </a:r>
          </a:p>
          <a:p>
            <a:pPr>
              <a:spcAft>
                <a:spcPts val="600"/>
              </a:spcAft>
              <a:defRPr>
                <a:latin typeface="Arial"/>
              </a:defRPr>
            </a:pPr>
            <a:r>
              <a:rPr b="1" sz="1200">
                <a:solidFill>
                  <a:srgbClr val="0F172A"/>
                </a:solidFill>
              </a:rPr>
              <a:t>• Short-Circuiting Efficiency: </a:t>
            </a:r>
            <a:r>
              <a:rPr b="0" sz="1200">
                <a:solidFill>
                  <a:srgbClr val="475569"/>
                </a:solidFill>
              </a:rPr>
              <a:t>A single negative answer (CF = 0.0) short-circuits rule evaluation, avoiding unnecessary user questions.</a:t>
            </a:r>
          </a:p>
          <a:p>
            <a:pPr>
              <a:spcAft>
                <a:spcPts val="600"/>
              </a:spcAft>
              <a:defRPr>
                <a:latin typeface="Arial"/>
              </a:defRPr>
            </a:pPr>
            <a:r>
              <a:rPr b="1" sz="1200">
                <a:solidFill>
                  <a:srgbClr val="0F172A"/>
                </a:solidFill>
              </a:rPr>
              <a:t>• Global Candidate Ranking: </a:t>
            </a:r>
            <a:r>
              <a:rPr b="0" sz="1200">
                <a:solidFill>
                  <a:srgbClr val="475569"/>
                </a:solidFill>
              </a:rPr>
              <a:t>Final reported diagnosis is the surviving hypothesis with the HIGHEST combined CF, not just the first matching one.</a:t>
            </a:r>
          </a:p>
          <a:p>
            <a:pPr>
              <a:spcAft>
                <a:spcPts val="600"/>
              </a:spcAft>
              <a:defRPr>
                <a:latin typeface="Arial"/>
              </a:defRPr>
            </a:pPr>
            <a:r>
              <a:rPr b="1" sz="1200">
                <a:solidFill>
                  <a:srgbClr val="0F172A"/>
                </a:solidFill>
              </a:rPr>
              <a:t>• Dual Fact Representation: </a:t>
            </a:r>
            <a:r>
              <a:rPr b="0" sz="1200">
                <a:solidFill>
                  <a:srgbClr val="475569"/>
                </a:solidFill>
              </a:rPr>
              <a:t>Combines Kanren relation facts with Python dictionary certainty factors.</a:t>
            </a:r>
          </a:p>
        </p:txBody>
      </p:sp>
      <p:sp>
        <p:nvSpPr>
          <p:cNvPr id="6" name="Rounded Rectangle 5"/>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spcAft>
                <a:spcPts val="1000"/>
              </a:spcAft>
              <a:defRPr sz="1600" b="1">
                <a:solidFill>
                  <a:srgbClr val="10B981"/>
                </a:solidFill>
                <a:latin typeface="Arial"/>
              </a:defRPr>
            </a:pPr>
            <a:r>
              <a:t>Future Enhancements</a:t>
            </a:r>
          </a:p>
          <a:p>
            <a:pPr>
              <a:spcAft>
                <a:spcPts val="600"/>
              </a:spcAft>
              <a:defRPr>
                <a:latin typeface="Arial"/>
              </a:defRPr>
            </a:pPr>
            <a:r>
              <a:rPr b="1" sz="1200">
                <a:solidFill>
                  <a:srgbClr val="0F172A"/>
                </a:solidFill>
              </a:rPr>
              <a:t>• Multiple Chief Complaints: </a:t>
            </a:r>
            <a:r>
              <a:rPr b="0" sz="1200">
                <a:solidFill>
                  <a:srgbClr val="475569"/>
                </a:solidFill>
              </a:rPr>
              <a:t>Support multiple initial starting symptoms.</a:t>
            </a:r>
          </a:p>
          <a:p>
            <a:pPr>
              <a:spcAft>
                <a:spcPts val="600"/>
              </a:spcAft>
              <a:defRPr>
                <a:latin typeface="Arial"/>
              </a:defRPr>
            </a:pPr>
            <a:r>
              <a:rPr b="1" sz="1200">
                <a:solidFill>
                  <a:srgbClr val="0F172A"/>
                </a:solidFill>
              </a:rPr>
              <a:t>• Granular CF Sliders: </a:t>
            </a:r>
            <a:r>
              <a:rPr b="0" sz="1200">
                <a:solidFill>
                  <a:srgbClr val="475569"/>
                </a:solidFill>
              </a:rPr>
              <a:t>Allow continuous 0-100% confidence inputs.</a:t>
            </a:r>
          </a:p>
          <a:p>
            <a:pPr>
              <a:spcAft>
                <a:spcPts val="600"/>
              </a:spcAft>
              <a:defRPr>
                <a:latin typeface="Arial"/>
              </a:defRPr>
            </a:pPr>
            <a:r>
              <a:rPr b="1" sz="1200">
                <a:solidFill>
                  <a:srgbClr val="0F172A"/>
                </a:solidFill>
              </a:rPr>
              <a:t>• Fact Persistence: </a:t>
            </a:r>
            <a:r>
              <a:rPr b="0" sz="1200">
                <a:solidFill>
                  <a:srgbClr val="475569"/>
                </a:solidFill>
              </a:rPr>
              <a:t>Persist patient session facts across multiple consultations.</a:t>
            </a:r>
          </a:p>
          <a:p>
            <a:pPr>
              <a:spcAft>
                <a:spcPts val="600"/>
              </a:spcAft>
              <a:defRPr>
                <a:latin typeface="Arial"/>
              </a:defRPr>
            </a:pPr>
            <a:r>
              <a:rPr b="1" sz="1200">
                <a:solidFill>
                  <a:srgbClr val="0F172A"/>
                </a:solidFill>
              </a:rPr>
              <a:t>• Automated Unit Tests: </a:t>
            </a:r>
            <a:r>
              <a:rPr b="0" sz="1200">
                <a:solidFill>
                  <a:srgbClr val="475569"/>
                </a:solidFill>
              </a:rPr>
              <a:t>Implement automated assertion tests for CF arithmetic.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097280"/>
            <a:ext cx="10698480" cy="548640"/>
          </a:xfrm>
          <a:prstGeom prst="rect">
            <a:avLst/>
          </a:prstGeom>
          <a:noFill/>
        </p:spPr>
        <p:txBody>
          <a:bodyPr wrap="none">
            <a:spAutoFit/>
          </a:bodyPr>
          <a:lstStyle/>
          <a:p>
            <a:pPr>
              <a:defRPr sz="1400" b="1">
                <a:solidFill>
                  <a:srgbClr val="0EA5E9"/>
                </a:solidFill>
              </a:defRPr>
            </a:pPr>
            <a:r>
              <a:t>PROJECT SUMMARY &amp; CONCLUSION</a:t>
            </a:r>
          </a:p>
        </p:txBody>
      </p:sp>
      <p:sp>
        <p:nvSpPr>
          <p:cNvPr id="3" name="Rounded Rectangle 2"/>
          <p:cNvSpPr/>
          <p:nvPr/>
        </p:nvSpPr>
        <p:spPr>
          <a:xfrm>
            <a:off x="731520" y="1828800"/>
            <a:ext cx="5120640" cy="438912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4754880" cy="4023360"/>
          </a:xfrm>
          <a:prstGeom prst="rect">
            <a:avLst/>
          </a:prstGeom>
          <a:noFill/>
        </p:spPr>
        <p:txBody>
          <a:bodyPr wrap="square">
            <a:spAutoFit/>
          </a:bodyPr>
          <a:lstStyle/>
          <a:p>
            <a:pPr>
              <a:spcAft>
                <a:spcPts val="1000"/>
              </a:spcAft>
              <a:defRPr sz="1600" b="1">
                <a:solidFill>
                  <a:srgbClr val="10B981"/>
                </a:solidFill>
                <a:latin typeface="Arial"/>
              </a:defRPr>
            </a:pPr>
            <a:r>
              <a:t>Core System Achievements</a:t>
            </a:r>
          </a:p>
          <a:p>
            <a:pPr>
              <a:spcAft>
                <a:spcPts val="600"/>
              </a:spcAft>
              <a:defRPr>
                <a:latin typeface="Arial"/>
              </a:defRPr>
            </a:pPr>
            <a:r>
              <a:rPr b="1" sz="1200">
                <a:solidFill>
                  <a:srgbClr val="0F172A"/>
                </a:solidFill>
              </a:rPr>
              <a:t>• Relational KBS Engine: </a:t>
            </a:r>
            <a:r>
              <a:rPr b="0" sz="1200">
                <a:solidFill>
                  <a:srgbClr val="475569"/>
                </a:solidFill>
              </a:rPr>
              <a:t>Built backward-chained medical inference engine in Python Kanren.</a:t>
            </a:r>
          </a:p>
          <a:p>
            <a:pPr>
              <a:spcAft>
                <a:spcPts val="600"/>
              </a:spcAft>
              <a:defRPr>
                <a:latin typeface="Arial"/>
              </a:defRPr>
            </a:pPr>
            <a:r>
              <a:rPr b="1" sz="1200">
                <a:solidFill>
                  <a:srgbClr val="0F172A"/>
                </a:solidFill>
              </a:rPr>
              <a:t>• Certainty Factor Logic: </a:t>
            </a:r>
            <a:r>
              <a:rPr b="0" sz="1200">
                <a:solidFill>
                  <a:srgbClr val="475569"/>
                </a:solidFill>
              </a:rPr>
              <a:t>Modeled evidence uncertainty using multiplicative MYCIN CF math.</a:t>
            </a:r>
          </a:p>
          <a:p>
            <a:pPr>
              <a:spcAft>
                <a:spcPts val="600"/>
              </a:spcAft>
              <a:defRPr>
                <a:latin typeface="Arial"/>
              </a:defRPr>
            </a:pPr>
            <a:r>
              <a:rPr b="1" sz="1200">
                <a:solidFill>
                  <a:srgbClr val="0F172A"/>
                </a:solidFill>
              </a:rPr>
              <a:t>• Dual Explanation Facilities: </a:t>
            </a:r>
            <a:r>
              <a:rPr b="0" sz="1200">
                <a:solidFill>
                  <a:srgbClr val="475569"/>
                </a:solidFill>
              </a:rPr>
              <a:t>Implemented transparent WHY and HOW explanation functions.</a:t>
            </a:r>
          </a:p>
          <a:p>
            <a:pPr>
              <a:spcAft>
                <a:spcPts val="600"/>
              </a:spcAft>
              <a:defRPr>
                <a:latin typeface="Arial"/>
              </a:defRPr>
            </a:pPr>
            <a:r>
              <a:rPr b="1" sz="1200">
                <a:solidFill>
                  <a:srgbClr val="0F172A"/>
                </a:solidFill>
              </a:rPr>
              <a:t>• Interactive Triage Loop: </a:t>
            </a:r>
            <a:r>
              <a:rPr b="0" sz="1200">
                <a:solidFill>
                  <a:srgbClr val="475569"/>
                </a:solidFill>
              </a:rPr>
              <a:t>Dynamic follow-up questionnaire short-circuiting on negative evidence.</a:t>
            </a:r>
          </a:p>
        </p:txBody>
      </p:sp>
      <p:sp>
        <p:nvSpPr>
          <p:cNvPr id="5" name="Rounded Rectangle 4"/>
          <p:cNvSpPr/>
          <p:nvPr/>
        </p:nvSpPr>
        <p:spPr>
          <a:xfrm>
            <a:off x="6217920" y="1828800"/>
            <a:ext cx="5212080" cy="438912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2011680"/>
            <a:ext cx="4846320" cy="4023360"/>
          </a:xfrm>
          <a:prstGeom prst="rect">
            <a:avLst/>
          </a:prstGeom>
          <a:noFill/>
        </p:spPr>
        <p:txBody>
          <a:bodyPr wrap="square">
            <a:spAutoFit/>
          </a:bodyPr>
          <a:lstStyle/>
          <a:p>
            <a:pPr>
              <a:spcAft>
                <a:spcPts val="1000"/>
              </a:spcAft>
              <a:defRPr sz="1600" b="1">
                <a:solidFill>
                  <a:srgbClr val="0EA5E9"/>
                </a:solidFill>
                <a:latin typeface="Arial"/>
              </a:defRPr>
            </a:pPr>
            <a:r>
              <a:t>Clinical &amp; Technical Deliverables</a:t>
            </a:r>
          </a:p>
          <a:p>
            <a:pPr>
              <a:spcAft>
                <a:spcPts val="600"/>
              </a:spcAft>
              <a:defRPr>
                <a:latin typeface="Arial"/>
              </a:defRPr>
            </a:pPr>
            <a:r>
              <a:rPr b="1" sz="1200">
                <a:solidFill>
                  <a:srgbClr val="0F172A"/>
                </a:solidFill>
              </a:rPr>
              <a:t>• Notebook Source: </a:t>
            </a:r>
            <a:r>
              <a:rPr b="0" sz="1200">
                <a:solidFill>
                  <a:srgbClr val="475569"/>
                </a:solidFill>
              </a:rPr>
              <a:t>medical_diagnosis_kbs.ipynb fully documented.</a:t>
            </a:r>
          </a:p>
          <a:p>
            <a:pPr>
              <a:spcAft>
                <a:spcPts val="600"/>
              </a:spcAft>
              <a:defRPr>
                <a:latin typeface="Arial"/>
              </a:defRPr>
            </a:pPr>
            <a:r>
              <a:rPr b="1" sz="1200">
                <a:solidFill>
                  <a:srgbClr val="0F172A"/>
                </a:solidFill>
              </a:rPr>
              <a:t>• Word Documentation: </a:t>
            </a:r>
            <a:r>
              <a:rPr b="0" sz="1200">
                <a:solidFill>
                  <a:srgbClr val="475569"/>
                </a:solidFill>
              </a:rPr>
              <a:t>Complete student documentation generated.</a:t>
            </a:r>
          </a:p>
          <a:p>
            <a:pPr>
              <a:spcAft>
                <a:spcPts val="600"/>
              </a:spcAft>
              <a:defRPr>
                <a:latin typeface="Arial"/>
              </a:defRPr>
            </a:pPr>
            <a:r>
              <a:rPr b="1" sz="1200">
                <a:solidFill>
                  <a:srgbClr val="0F172A"/>
                </a:solidFill>
              </a:rPr>
              <a:t>• Presentation Decks: </a:t>
            </a:r>
            <a:r>
              <a:rPr b="0" sz="1200">
                <a:solidFill>
                  <a:srgbClr val="475569"/>
                </a:solidFill>
              </a:rPr>
              <a:t>PowerPoint (.pptx) &amp; Interactive Web presentation decks created.</a:t>
            </a:r>
          </a:p>
          <a:p>
            <a:pPr>
              <a:spcAft>
                <a:spcPts val="600"/>
              </a:spcAft>
              <a:defRPr>
                <a:latin typeface="Arial"/>
              </a:defRPr>
            </a:pPr>
            <a:r>
              <a:rPr b="1" sz="1200">
                <a:solidFill>
                  <a:srgbClr val="0F172A"/>
                </a:solidFill>
              </a:rPr>
              <a:t>• Verified Codebase: </a:t>
            </a:r>
            <a:r>
              <a:rPr b="0" sz="1200">
                <a:solidFill>
                  <a:srgbClr val="475569"/>
                </a:solidFill>
              </a:rPr>
              <a:t>9/9 unit tests passing cleanly.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