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CLINICAL DECISION SUPPORT &amp; EXPERT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Arial"/>
              </a:defRPr>
            </a:pPr>
            <a:r>
              <a:t>Medical Diagnosis &amp;</a:t>
            </a:r>
            <a:br/>
            <a:r>
              <a:t>Clinical Triage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An intelligent relational rule evaluator for symptom triage, targeted questioning, and laboratory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Presenter: Student Project Presentation  |  Technology: Python Kanren, REST API, Web Workstation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Problem Statement &amp; Clinical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High Patient Load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Overloaded Triage: </a:t>
            </a:r>
            <a:r>
              <a:rPr b="0" sz="1300">
                <a:solidFill>
                  <a:srgbClr val="475569"/>
                </a:solidFill>
              </a:rPr>
              <a:t>Primary healthcare centers evaluate high patient volumes daily.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Time Constraints: </a:t>
            </a:r>
            <a:r>
              <a:rPr b="0" sz="1300">
                <a:solidFill>
                  <a:srgbClr val="475569"/>
                </a:solidFill>
              </a:rPr>
              <a:t>Clinicians have limited time per patient to take detailed symptom histories.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Diagnostic Fatigue: </a:t>
            </a:r>
            <a:r>
              <a:rPr b="0" sz="1300">
                <a:solidFill>
                  <a:srgbClr val="475569"/>
                </a:solidFill>
              </a:rPr>
              <a:t>Heavy caseloads increase cognitive fatigue during preliminary screening.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Overlapping Symptoms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Non-Specific Features: </a:t>
            </a:r>
            <a:r>
              <a:rPr b="0" sz="1300">
                <a:solidFill>
                  <a:srgbClr val="475569"/>
                </a:solidFill>
              </a:rPr>
              <a:t>Fever, headache, chills, and fatigue accompany multiple conditions.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Diagnostic Confusion: </a:t>
            </a:r>
            <a:r>
              <a:rPr b="0" sz="1300">
                <a:solidFill>
                  <a:srgbClr val="475569"/>
                </a:solidFill>
              </a:rPr>
              <a:t>Malaria, Typhoid, and Dengue share high clinical overlap.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Unfocused Investigations: </a:t>
            </a:r>
            <a:r>
              <a:rPr b="0" sz="1300">
                <a:solidFill>
                  <a:srgbClr val="475569"/>
                </a:solidFill>
              </a:rPr>
              <a:t>Lack of structured questioning can delay ordering critical lab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Risk of Errors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Missed Secondary Signs: </a:t>
            </a:r>
            <a:r>
              <a:rPr b="0" sz="1300">
                <a:solidFill>
                  <a:srgbClr val="475569"/>
                </a:solidFill>
              </a:rPr>
              <a:t>Minor symptoms like bradycardia or orbital pain may be overlooked.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Premature Conclusions: </a:t>
            </a:r>
            <a:r>
              <a:rPr b="0" sz="1300">
                <a:solidFill>
                  <a:srgbClr val="475569"/>
                </a:solidFill>
              </a:rPr>
              <a:t>Treating symptoms without confirmation risks improper medication.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Need for Automation: </a:t>
            </a:r>
            <a:r>
              <a:rPr b="0" sz="1300">
                <a:solidFill>
                  <a:srgbClr val="475569"/>
                </a:solidFill>
              </a:rPr>
              <a:t>A structured rule-based system supports accurate diagnostic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Objectives &amp; Project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Primary Objectives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Structured Triage: </a:t>
            </a:r>
            <a:r>
              <a:rPr b="0" sz="1300">
                <a:solidFill>
                  <a:srgbClr val="475569"/>
                </a:solidFill>
              </a:rPr>
              <a:t>Guide clinicians through systematic symptom input across 6 major organ systems.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Logical Inference Engine: </a:t>
            </a:r>
            <a:r>
              <a:rPr b="0" sz="1300">
                <a:solidFill>
                  <a:srgbClr val="475569"/>
                </a:solidFill>
              </a:rPr>
              <a:t>Apply declarative medical rules to match symptoms against disease facts.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Sequential Target Questioning: </a:t>
            </a:r>
            <a:r>
              <a:rPr b="0" sz="1300">
                <a:solidFill>
                  <a:srgbClr val="475569"/>
                </a:solidFill>
              </a:rPr>
              <a:t>Ask targeted follow-up questions starting with the least likely candidate to narrow differentials.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Confirmation Test Integration: </a:t>
            </a:r>
            <a:r>
              <a:rPr b="0" sz="1300">
                <a:solidFill>
                  <a:srgbClr val="475569"/>
                </a:solidFill>
              </a:rPr>
              <a:t>Process positive and negative lab outcomes to confirm or rule out conditions.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Clinical Impact &amp; Benefits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Enhanced Accuracy: </a:t>
            </a:r>
            <a:r>
              <a:rPr b="0" sz="1300">
                <a:solidFill>
                  <a:srgbClr val="475569"/>
                </a:solidFill>
              </a:rPr>
              <a:t>Reduces preliminary diagnosis errors by systematically evaluating secondary symptoms.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Optimized Laboratory Workflow: </a:t>
            </a:r>
            <a:r>
              <a:rPr b="0" sz="1300">
                <a:solidFill>
                  <a:srgbClr val="475569"/>
                </a:solidFill>
              </a:rPr>
              <a:t>Recommends specific high-yield tests (e.g. Blood Culture, Dengue NS1, RDT).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Treatment Safety: </a:t>
            </a:r>
            <a:r>
              <a:rPr b="0" sz="1300">
                <a:solidFill>
                  <a:srgbClr val="475569"/>
                </a:solidFill>
              </a:rPr>
              <a:t>Provides immediate first-aid advice, dosage protocols, and contraindication alerts.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Accessibility: </a:t>
            </a:r>
            <a:r>
              <a:rPr b="0" sz="1300">
                <a:solidFill>
                  <a:srgbClr val="475569"/>
                </a:solidFill>
              </a:rPr>
              <a:t>Delivers an intuitive light-themed web portal with persistent account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Architecture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1. Knowledge Base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Kanren Runtime: </a:t>
            </a:r>
            <a:r>
              <a:rPr b="0" sz="1300">
                <a:solidFill>
                  <a:srgbClr val="475569"/>
                </a:solidFill>
              </a:rPr>
              <a:t>Python relational logic programming engine.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Facts Library: </a:t>
            </a:r>
            <a:r>
              <a:rPr b="0" sz="1300">
                <a:solidFill>
                  <a:srgbClr val="475569"/>
                </a:solidFill>
              </a:rPr>
              <a:t>Structured disease definitions, ICD-10 codes, descriptions, and treatments.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Relational Rules: </a:t>
            </a:r>
            <a:r>
              <a:rPr b="0" sz="1300">
                <a:solidFill>
                  <a:srgbClr val="475569"/>
                </a:solidFill>
              </a:rPr>
              <a:t>Declarative rules mapping symptom combinations to disease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2. Expert System REST API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Flask/FastAPI Backend: </a:t>
            </a:r>
            <a:r>
              <a:rPr b="0" sz="1300">
                <a:solidFill>
                  <a:srgbClr val="475569"/>
                </a:solidFill>
              </a:rPr>
              <a:t>Exposes structured endpoints for web and mobile clients.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/api/v1/diagnose: </a:t>
            </a:r>
            <a:r>
              <a:rPr b="0" sz="1300">
                <a:solidFill>
                  <a:srgbClr val="475569"/>
                </a:solidFill>
              </a:rPr>
              <a:t>Processes reported symptoms and computes initial candidate ranking.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/api/v1/next-questions: </a:t>
            </a:r>
            <a:r>
              <a:rPr b="0" sz="1300">
                <a:solidFill>
                  <a:srgbClr val="475569"/>
                </a:solidFill>
              </a:rPr>
              <a:t>Generates targeted follow-up questions for candidate diseases.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/api/v1/testing-result: </a:t>
            </a:r>
            <a:r>
              <a:rPr b="0" sz="1300">
                <a:solidFill>
                  <a:srgbClr val="475569"/>
                </a:solidFill>
              </a:rPr>
              <a:t>Evaluates lab test outcomes and updates the remaining pool.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3. Web Workstation UI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HTML5 &amp; Vanilla CSS: </a:t>
            </a:r>
            <a:r>
              <a:rPr b="0" sz="1300">
                <a:solidFill>
                  <a:srgbClr val="475569"/>
                </a:solidFill>
              </a:rPr>
              <a:t>Crisp light medical portal with responsive layout.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JavaScript (app.js): </a:t>
            </a:r>
            <a:r>
              <a:rPr b="0" sz="1300">
                <a:solidFill>
                  <a:srgbClr val="475569"/>
                </a:solidFill>
              </a:rPr>
              <a:t>Manages state, pagination, state persistence, and API calls.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Clinician Portal: </a:t>
            </a:r>
            <a:r>
              <a:rPr b="0" sz="1300">
                <a:solidFill>
                  <a:srgbClr val="475569"/>
                </a:solidFill>
              </a:rPr>
              <a:t>Provides secure registration, sign in, collapsible sidebar, and diagnostic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Clinician Authentication &amp; Account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Account Management Features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Account Registration: </a:t>
            </a:r>
            <a:r>
              <a:rPr b="0" sz="1300">
                <a:solidFill>
                  <a:srgbClr val="475569"/>
                </a:solidFill>
              </a:rPr>
              <a:t>Clinicians register with full name, medical email, facility name, and password.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Secure Sign In: </a:t>
            </a:r>
            <a:r>
              <a:rPr b="0" sz="1300">
                <a:solidFill>
                  <a:srgbClr val="475569"/>
                </a:solidFill>
              </a:rPr>
              <a:t>Registered clinicians sign in to access their clinical triage workstation.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Password Reset Modal: </a:t>
            </a:r>
            <a:r>
              <a:rPr b="0" sz="1300">
                <a:solidFill>
                  <a:srgbClr val="475569"/>
                </a:solidFill>
              </a:rPr>
              <a:t>Provides a password recovery link request interface.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Local Storage Persistence: </a:t>
            </a:r>
            <a:r>
              <a:rPr b="0" sz="1300">
                <a:solidFill>
                  <a:srgbClr val="475569"/>
                </a:solidFill>
              </a:rPr>
              <a:t>Account profiles persist in browser localStorage, allowing seamless sign-in across browser reloads.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Clinician Profile Workspace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Collapsible Sidebar: </a:t>
            </a:r>
            <a:r>
              <a:rPr b="0" sz="1300">
                <a:solidFill>
                  <a:srgbClr val="475569"/>
                </a:solidFill>
              </a:rPr>
              <a:t>Displays active clinician name, email, facility, and role. Can be collapsed into icon mode.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Sign Out Button: </a:t>
            </a:r>
            <a:r>
              <a:rPr b="0" sz="1300">
                <a:solidFill>
                  <a:srgbClr val="475569"/>
                </a:solidFill>
              </a:rPr>
              <a:t>Located at the bottom of the sidebar to return securely to the Landing Page.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System Status Indicator: </a:t>
            </a:r>
            <a:r>
              <a:rPr b="0" sz="1300">
                <a:solidFill>
                  <a:srgbClr val="475569"/>
                </a:solidFill>
              </a:rPr>
              <a:t>Displays engine connection status (Online / Ready) in the top navigation 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Phase 1: Symptom Selection &amp;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Categorized Symptoms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Systemic: </a:t>
            </a:r>
            <a:r>
              <a:rPr b="0" sz="1300">
                <a:solidFill>
                  <a:srgbClr val="475569"/>
                </a:solidFill>
              </a:rPr>
              <a:t>High fever, chills, fatigue, diaphoresis, rigors.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Respiratory: </a:t>
            </a:r>
            <a:r>
              <a:rPr b="0" sz="1300">
                <a:solidFill>
                  <a:srgbClr val="475569"/>
                </a:solidFill>
              </a:rPr>
              <a:t>Cough, dyspnea, sore throat, anosmia.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Gastrointestinal: </a:t>
            </a:r>
            <a:r>
              <a:rPr b="0" sz="1300">
                <a:solidFill>
                  <a:srgbClr val="475569"/>
                </a:solidFill>
              </a:rPr>
              <a:t>Abdominal pain, nausea, diarrhea, vomiting.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Neurological: </a:t>
            </a:r>
            <a:r>
              <a:rPr b="0" sz="1300">
                <a:solidFill>
                  <a:srgbClr val="475569"/>
                </a:solidFill>
              </a:rPr>
              <a:t>Headache, retro-orbital pain, dizziness.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Risk Factors &amp; Exposures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Vector Exposure: </a:t>
            </a:r>
            <a:r>
              <a:rPr b="0" sz="1300">
                <a:solidFill>
                  <a:srgbClr val="475569"/>
                </a:solidFill>
              </a:rPr>
              <a:t>Recent mosquito bites or endemic area travel.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Water &amp; Hygiene: </a:t>
            </a:r>
            <a:r>
              <a:rPr b="0" sz="1300">
                <a:solidFill>
                  <a:srgbClr val="475569"/>
                </a:solidFill>
              </a:rPr>
              <a:t>Unboiled water or street food consumption.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Contact History: </a:t>
            </a:r>
            <a:r>
              <a:rPr b="0" sz="1300">
                <a:solidFill>
                  <a:srgbClr val="475569"/>
                </a:solidFill>
              </a:rPr>
              <a:t>Recent contact with known infectious individuals.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Environmental: </a:t>
            </a:r>
            <a:r>
              <a:rPr b="0" sz="1300">
                <a:solidFill>
                  <a:srgbClr val="475569"/>
                </a:solidFill>
              </a:rPr>
              <a:t>Occupational or seasonal exposure risks.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Clinical Triage Input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Interactive Checkboxes: </a:t>
            </a:r>
            <a:r>
              <a:rPr b="0" sz="1300">
                <a:solidFill>
                  <a:srgbClr val="475569"/>
                </a:solidFill>
              </a:rPr>
              <a:t>Easy click selection for fast entry during patient intake.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Custom Clinical Notes: </a:t>
            </a:r>
            <a:r>
              <a:rPr b="0" sz="1300">
                <a:solidFill>
                  <a:srgbClr val="475569"/>
                </a:solidFill>
              </a:rPr>
              <a:t>Text box allowing clinicians to enter additional custom symptoms.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Instant Trigger: </a:t>
            </a:r>
            <a:r>
              <a:rPr b="0" sz="1300">
                <a:solidFill>
                  <a:srgbClr val="475569"/>
                </a:solidFill>
              </a:rPr>
              <a:t>Single-click execution of relational logic inference.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Phase 2: Sequential Targeted Questioning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Sequential Questioning Algorithm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Top 3 Disease Lock: </a:t>
            </a:r>
            <a:r>
              <a:rPr b="0" sz="1300">
                <a:solidFill>
                  <a:srgbClr val="475569"/>
                </a:solidFill>
              </a:rPr>
              <a:t>Locks the top 3 candidate diseases matching initial symptoms.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Least-Likely-First Priority: </a:t>
            </a:r>
            <a:r>
              <a:rPr b="0" sz="1300">
                <a:solidFill>
                  <a:srgbClr val="475569"/>
                </a:solidFill>
              </a:rPr>
              <a:t>Sequentially investigates Disease 3 -&gt; Disease 2 -&gt; Disease 1 to efficiently rule out lower candidates.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Targeted Symptom Queries: </a:t>
            </a:r>
            <a:r>
              <a:rPr b="0" sz="1300">
                <a:solidFill>
                  <a:srgbClr val="475569"/>
                </a:solidFill>
              </a:rPr>
              <a:t>Asks targeted questions regarding secondary clinical signs.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Binary Yes/No Cards: </a:t>
            </a:r>
            <a:r>
              <a:rPr b="0" sz="1300">
                <a:solidFill>
                  <a:srgbClr val="475569"/>
                </a:solidFill>
              </a:rPr>
              <a:t>Questions feature clean Yes and No action buttons for quick entry.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Question Pagination &amp; UX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Controlled Pagination: </a:t>
            </a:r>
            <a:r>
              <a:rPr b="0" sz="1300">
                <a:solidFill>
                  <a:srgbClr val="475569"/>
                </a:solidFill>
              </a:rPr>
              <a:t>Limits questions to at most 5 displayed per page when total questions &gt; 5.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Automatic Control Hiding: </a:t>
            </a:r>
            <a:r>
              <a:rPr b="0" sz="1300">
                <a:solidFill>
                  <a:srgbClr val="475569"/>
                </a:solidFill>
              </a:rPr>
              <a:t>Hides previous/next buttons when total questions &lt;= 5 to clean up the interface.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Progress Indicator: </a:t>
            </a:r>
            <a:r>
              <a:rPr b="0" sz="1300">
                <a:solidFill>
                  <a:srgbClr val="475569"/>
                </a:solidFill>
              </a:rPr>
              <a:t>Shows progress bar and active step counter during questioning.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Inference Unlock: </a:t>
            </a:r>
            <a:r>
              <a:rPr b="0" sz="1300">
                <a:solidFill>
                  <a:srgbClr val="475569"/>
                </a:solidFill>
              </a:rPr>
              <a:t>Unlocks final diagnosis and laboratory confirmation panel once questions are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Phase 3: Differential Output &amp; Lab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Differential Diagnosis Card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Leading Condition: </a:t>
            </a:r>
            <a:r>
              <a:rPr b="0" sz="1300">
                <a:solidFill>
                  <a:srgbClr val="475569"/>
                </a:solidFill>
              </a:rPr>
              <a:t>Renders primary disease name, ICD-10 code, category, and description.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Confidence Score: </a:t>
            </a:r>
            <a:r>
              <a:rPr b="0" sz="1300">
                <a:solidFill>
                  <a:srgbClr val="475569"/>
                </a:solidFill>
              </a:rPr>
              <a:t>Displays calculated confidence percentage based on matched criteria.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Recommended Tests: </a:t>
            </a:r>
            <a:r>
              <a:rPr b="0" sz="1300">
                <a:solidFill>
                  <a:srgbClr val="475569"/>
                </a:solidFill>
              </a:rPr>
              <a:t>Specifies laboratory test name, sample type, and urgency level.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Eliminated Pool: </a:t>
            </a:r>
            <a:r>
              <a:rPr b="0" sz="1300">
                <a:solidFill>
                  <a:srgbClr val="475569"/>
                </a:solidFill>
              </a:rPr>
              <a:t>Lists ruled-out diseases with explicit reasons for elimination.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Confirmation Test Panel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Test Positive Outcome: </a:t>
            </a:r>
            <a:r>
              <a:rPr b="0" sz="1300">
                <a:solidFill>
                  <a:srgbClr val="475569"/>
                </a:solidFill>
              </a:rPr>
              <a:t>Locks confirmed diagnosis, displays prescribed medications, and instructs clinician to cease further testing.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Test Negative Outcome: </a:t>
            </a:r>
            <a:r>
              <a:rPr b="0" sz="1300">
                <a:solidFill>
                  <a:srgbClr val="475569"/>
                </a:solidFill>
              </a:rPr>
              <a:t>Eliminates tested disease, advances to next candidate, and updates remaining pool.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Ruled-Out Notice: </a:t>
            </a:r>
            <a:r>
              <a:rPr b="0" sz="1300">
                <a:solidFill>
                  <a:srgbClr val="475569"/>
                </a:solidFill>
              </a:rPr>
              <a:t>If all candidates test negative, displays a clear alert recommending broad-spectrum testing or specialist referral.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Step-by-Step Clinical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Step 1: Auth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Sign In: </a:t>
            </a:r>
            <a:r>
              <a:rPr b="0" sz="1300">
                <a:solidFill>
                  <a:srgbClr val="475569"/>
                </a:solidFill>
              </a:rPr>
              <a:t>Clinician logs in or creates a new profile.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Profile Active: </a:t>
            </a:r>
            <a:r>
              <a:rPr b="0" sz="1300">
                <a:solidFill>
                  <a:srgbClr val="475569"/>
                </a:solidFill>
              </a:rPr>
              <a:t>Workspace opens with clinician details.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Step 2: Symptoms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Select Features: </a:t>
            </a:r>
            <a:r>
              <a:rPr b="0" sz="1300">
                <a:solidFill>
                  <a:srgbClr val="475569"/>
                </a:solidFill>
              </a:rPr>
              <a:t>Check primary symptoms &amp; risk factors.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Run Inference: </a:t>
            </a:r>
            <a:r>
              <a:rPr b="0" sz="1300">
                <a:solidFill>
                  <a:srgbClr val="475569"/>
                </a:solidFill>
              </a:rPr>
              <a:t>Trigger engine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Step 3: Questions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Top 3 Candidate Pool: </a:t>
            </a:r>
            <a:r>
              <a:rPr b="0" sz="1300">
                <a:solidFill>
                  <a:srgbClr val="475569"/>
                </a:solidFill>
              </a:rPr>
              <a:t>System locks top 3 candidates.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Sequential Survey: </a:t>
            </a:r>
            <a:r>
              <a:rPr b="0" sz="1300">
                <a:solidFill>
                  <a:srgbClr val="475569"/>
                </a:solidFill>
              </a:rPr>
              <a:t>Answer Yes/No follow-up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64592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Step 4: Confirm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Review Diagnosis: </a:t>
            </a:r>
            <a:r>
              <a:rPr b="0" sz="1300">
                <a:solidFill>
                  <a:srgbClr val="475569"/>
                </a:solidFill>
              </a:rPr>
              <a:t>Examine differential &amp; lab tests.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Record Test: </a:t>
            </a:r>
            <a:r>
              <a:rPr b="0" sz="1300">
                <a:solidFill>
                  <a:srgbClr val="475569"/>
                </a:solidFill>
              </a:rPr>
              <a:t>Submit Positive/Negative outcome.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DIAGNOSIS &amp; CLINICAL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Verification &amp; Quality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Automated Unit Testing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Python Unittest Suite: </a:t>
            </a:r>
            <a:r>
              <a:rPr b="0" sz="1300">
                <a:solidFill>
                  <a:srgbClr val="475569"/>
                </a:solidFill>
              </a:rPr>
              <a:t>Ran comprehensive test suite in tests/test_kanren_engine.py.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9/9 Tests Passed: </a:t>
            </a:r>
            <a:r>
              <a:rPr b="0" sz="1300">
                <a:solidFill>
                  <a:srgbClr val="475569"/>
                </a:solidFill>
              </a:rPr>
              <a:t>100% pass rate across disease ranking, question generation, and test result resolution.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Fast Execution: </a:t>
            </a:r>
            <a:r>
              <a:rPr b="0" sz="1300">
                <a:solidFill>
                  <a:srgbClr val="475569"/>
                </a:solidFill>
              </a:rPr>
              <a:t>Executed full test suite in under 0.05 seconds.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Rule Integrity: </a:t>
            </a:r>
            <a:r>
              <a:rPr b="0" sz="1300">
                <a:solidFill>
                  <a:srgbClr val="475569"/>
                </a:solidFill>
              </a:rPr>
              <a:t>Validated logic consistency across all medical facts and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Client Validation &amp; Flow Verification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JavaScript Syntax Check: </a:t>
            </a:r>
            <a:r>
              <a:rPr b="0" sz="1300">
                <a:solidFill>
                  <a:srgbClr val="475569"/>
                </a:solidFill>
              </a:rPr>
              <a:t>Validated app.js with Node.js compiler (0 syntax errors).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Auth &amp; Persistence: </a:t>
            </a:r>
            <a:r>
              <a:rPr b="0" sz="1300">
                <a:solidFill>
                  <a:srgbClr val="475569"/>
                </a:solidFill>
              </a:rPr>
              <a:t>Verified account creation, local storage persistence, and sign-in validation.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Questioning Sequence: </a:t>
            </a:r>
            <a:r>
              <a:rPr b="0" sz="1300">
                <a:solidFill>
                  <a:srgbClr val="475569"/>
                </a:solidFill>
              </a:rPr>
              <a:t>Verified sequential 3-disease questioning algorithm (Disease 3 to Disease 1).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b="1" sz="1300">
                <a:solidFill>
                  <a:srgbClr val="0F172A"/>
                </a:solidFill>
              </a:rPr>
              <a:t>• Test Result Flow: </a:t>
            </a:r>
            <a:r>
              <a:rPr b="0" sz="1300">
                <a:solidFill>
                  <a:srgbClr val="475569"/>
                </a:solidFill>
              </a:rPr>
              <a:t>Verified positive and negative lab outcome handling without error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PROJECT 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1600">
                <a:solidFill>
                  <a:srgbClr val="0EA5E9"/>
                </a:solidFill>
              </a:rPr>
              <a:t>✓  Relational Knowledge Engine: </a:t>
            </a:r>
            <a:r>
              <a:rPr b="0" sz="1500">
                <a:solidFill>
                  <a:srgbClr val="F1F5F9"/>
                </a:solidFill>
              </a:rPr>
              <a:t>Successfully built an expert triage system powered by Python Kanren logic programming.</a:t>
            </a:r>
          </a:p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1600">
                <a:solidFill>
                  <a:srgbClr val="0EA5E9"/>
                </a:solidFill>
              </a:rPr>
              <a:t>✓  Intuitive Clinician Workstation: </a:t>
            </a:r>
            <a:r>
              <a:rPr b="0" sz="1500">
                <a:solidFill>
                  <a:srgbClr val="F1F5F9"/>
                </a:solidFill>
              </a:rPr>
              <a:t>Delivered a clean, light-themed web interface featuring account registration, sign-in persistence, and a collapsible sidebar.</a:t>
            </a:r>
          </a:p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1600">
                <a:solidFill>
                  <a:srgbClr val="0EA5E9"/>
                </a:solidFill>
              </a:rPr>
              <a:t>✓  Sequential Triage Algorithm: </a:t>
            </a:r>
            <a:r>
              <a:rPr b="0" sz="1500">
                <a:solidFill>
                  <a:srgbClr val="F1F5F9"/>
                </a:solidFill>
              </a:rPr>
              <a:t>Implemented targeted 3-disease sequential questioning and controlled 5-item question pagination.</a:t>
            </a:r>
          </a:p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1600">
                <a:solidFill>
                  <a:srgbClr val="0EA5E9"/>
                </a:solidFill>
              </a:rPr>
              <a:t>✓  Definitive Confirmation Testing: </a:t>
            </a:r>
            <a:r>
              <a:rPr b="0" sz="1500">
                <a:solidFill>
                  <a:srgbClr val="F1F5F9"/>
                </a:solidFill>
              </a:rPr>
              <a:t>Enabled positive and negative lab test result processing with clear therapeutic guidance and ruled-out notices.</a:t>
            </a:r>
          </a:p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1600">
                <a:solidFill>
                  <a:srgbClr val="0EA5E9"/>
                </a:solidFill>
              </a:rPr>
              <a:t>✓  Verified Performance: </a:t>
            </a:r>
            <a:r>
              <a:rPr b="0" sz="1500">
                <a:solidFill>
                  <a:srgbClr val="F1F5F9"/>
                </a:solidFill>
              </a:rPr>
              <a:t>Achieved 100% passing rate on unit tests and clean client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