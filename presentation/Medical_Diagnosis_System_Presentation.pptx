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CLINICAL DECISION SUPPORT &amp;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1F5F9"/>
                </a:solidFill>
              </a:defRPr>
            </a:pPr>
            <a:r>
              <a:t>Medical Diagnosis &amp;</a:t>
            </a:r>
            <a:br/>
            <a:r>
              <a:t>Clinical Triage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An explainable relational logic expert system for targeted triage, 3-disease questioning, and lab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Python Kanren Core   |   REST API Architecture   |   Clinician Portal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Problem Statement &amp; Clinical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High Triage Caseloads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High Patient Volumes: </a:t>
            </a:r>
            <a:r>
              <a:rPr b="0" sz="1200">
                <a:solidFill>
                  <a:srgbClr val="475569"/>
                </a:solidFill>
              </a:rPr>
              <a:t>Primary healthcare centers evaluate dozens of patients daily.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Time Constraints: </a:t>
            </a:r>
            <a:r>
              <a:rPr b="0" sz="1200">
                <a:solidFill>
                  <a:srgbClr val="475569"/>
                </a:solidFill>
              </a:rPr>
              <a:t>Clinicians have limited minutes per consultation to take detailed histories.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Cognitive Fatigue: </a:t>
            </a:r>
            <a:r>
              <a:rPr b="0" sz="1200">
                <a:solidFill>
                  <a:srgbClr val="475569"/>
                </a:solidFill>
              </a:rPr>
              <a:t>Heavy caseloads increase fatigue during preliminary screening.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Overlapping Symptoms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Non-Specific Features: </a:t>
            </a:r>
            <a:r>
              <a:rPr b="0" sz="1200">
                <a:solidFill>
                  <a:srgbClr val="475569"/>
                </a:solidFill>
              </a:rPr>
              <a:t>Fever, headache, chills, and fatigue accompany multiple diseases.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Diagnostic Confusion: </a:t>
            </a:r>
            <a:r>
              <a:rPr b="0" sz="1200">
                <a:solidFill>
                  <a:srgbClr val="475569"/>
                </a:solidFill>
              </a:rPr>
              <a:t>Malaria, Typhoid, and Dengue share high initial symptom overlap.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Unfocused Orders: </a:t>
            </a:r>
            <a:r>
              <a:rPr b="0" sz="1200">
                <a:solidFill>
                  <a:srgbClr val="475569"/>
                </a:solidFill>
              </a:rPr>
              <a:t>Lack of structured questioning causes unnecessary laboratory testing.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  <a:latin typeface="Arial"/>
              </a:defRPr>
            </a:pPr>
            <a:r>
              <a:t>Diagnostic Risks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Missed Secondary Signs: </a:t>
            </a:r>
            <a:r>
              <a:rPr b="0" sz="1200">
                <a:solidFill>
                  <a:srgbClr val="475569"/>
                </a:solidFill>
              </a:rPr>
              <a:t>Minor clinical features like relative bradycardia are often overlooked.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Improper Medication: </a:t>
            </a:r>
            <a:r>
              <a:rPr b="0" sz="1200">
                <a:solidFill>
                  <a:srgbClr val="475569"/>
                </a:solidFill>
              </a:rPr>
              <a:t>Treating unconfirmed conditions creates medication risks.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Need for Automation: </a:t>
            </a:r>
            <a:r>
              <a:rPr b="0" sz="1200">
                <a:solidFill>
                  <a:srgbClr val="475569"/>
                </a:solidFill>
              </a:rPr>
              <a:t>A structured rule-based system improves preliminary diagnostic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System Objectives &amp; Clinical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Primary System Objectives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Structured Triage Intake: </a:t>
            </a:r>
            <a:r>
              <a:rPr b="0" sz="1200">
                <a:solidFill>
                  <a:srgbClr val="475569"/>
                </a:solidFill>
              </a:rPr>
              <a:t>Collect presenting patient symptoms across 6 major organ systems.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Relational Rule Inference: </a:t>
            </a:r>
            <a:r>
              <a:rPr b="0" sz="1200">
                <a:solidFill>
                  <a:srgbClr val="475569"/>
                </a:solidFill>
              </a:rPr>
              <a:t>Execute declarative medical rules matching symptoms to disease facts.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Sequential Questioning: </a:t>
            </a:r>
            <a:r>
              <a:rPr b="0" sz="1200">
                <a:solidFill>
                  <a:srgbClr val="475569"/>
                </a:solidFill>
              </a:rPr>
              <a:t>Query top candidate conditions sequentially starting with the least likely candidate.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Lab Confirmation Testing: </a:t>
            </a:r>
            <a:r>
              <a:rPr b="0" sz="1200">
                <a:solidFill>
                  <a:srgbClr val="475569"/>
                </a:solidFill>
              </a:rPr>
              <a:t>Evaluate positive and negative lab outcomes to confirm or rule out conditions.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Clinical Impact &amp; Benefits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Reduced Diagnostic Errors: </a:t>
            </a:r>
            <a:r>
              <a:rPr b="0" sz="1200">
                <a:solidFill>
                  <a:srgbClr val="475569"/>
                </a:solidFill>
              </a:rPr>
              <a:t>Improves preliminary accuracy by systematically querying secondary signs.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High-Yield Test Selection: </a:t>
            </a:r>
            <a:r>
              <a:rPr b="0" sz="1200">
                <a:solidFill>
                  <a:srgbClr val="475569"/>
                </a:solidFill>
              </a:rPr>
              <a:t>Recommends specific high-yield lab investigations (e.g. Widal, Dengue NS1).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Treatment Safety Protocol: </a:t>
            </a:r>
            <a:r>
              <a:rPr b="0" sz="1200">
                <a:solidFill>
                  <a:srgbClr val="475569"/>
                </a:solidFill>
              </a:rPr>
              <a:t>Displays immediate first-aid, dosage guidelines, and contraindications.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Seamless Workstation UX: </a:t>
            </a:r>
            <a:r>
              <a:rPr b="0" sz="1200">
                <a:solidFill>
                  <a:srgbClr val="475569"/>
                </a:solidFill>
              </a:rPr>
              <a:t>Provides a clean clinician portal with persistent account storage.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System Architecture &amp; Core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1. Knowledge Base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Kanren Relational Engine: </a:t>
            </a:r>
            <a:r>
              <a:rPr b="0" sz="1200">
                <a:solidFill>
                  <a:srgbClr val="475569"/>
                </a:solidFill>
              </a:rPr>
              <a:t>Python logic programming engine using relations, facts, and rules.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Medical Facts Dictionary: </a:t>
            </a:r>
            <a:r>
              <a:rPr b="0" sz="1200">
                <a:solidFill>
                  <a:srgbClr val="475569"/>
                </a:solidFill>
              </a:rPr>
              <a:t>Disease profiles, ICD-10 codes, descriptions, and treatment protocols.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Rule Evaluator: </a:t>
            </a:r>
            <a:r>
              <a:rPr b="0" sz="1200">
                <a:solidFill>
                  <a:srgbClr val="475569"/>
                </a:solidFill>
              </a:rPr>
              <a:t>Declarative rules mapping symptom combinations to disease confidence.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2. REST API Engine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Flask/FastAPI Backend: </a:t>
            </a:r>
            <a:r>
              <a:rPr b="0" sz="1200">
                <a:solidFill>
                  <a:srgbClr val="475569"/>
                </a:solidFill>
              </a:rPr>
              <a:t>Exposes structured HTTP API endpoints for web/mobile client access.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/api/v1/diagnose: </a:t>
            </a:r>
            <a:r>
              <a:rPr b="0" sz="1200">
                <a:solidFill>
                  <a:srgbClr val="475569"/>
                </a:solidFill>
              </a:rPr>
              <a:t>Processes symptom intake and ranks candidate conditions.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/api/v1/next-questions: </a:t>
            </a:r>
            <a:r>
              <a:rPr b="0" sz="1200">
                <a:solidFill>
                  <a:srgbClr val="475569"/>
                </a:solidFill>
              </a:rPr>
              <a:t>Generates targeted follow-up questions.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/api/v1/testing-result: </a:t>
            </a:r>
            <a:r>
              <a:rPr b="0" sz="1200">
                <a:solidFill>
                  <a:srgbClr val="475569"/>
                </a:solidFill>
              </a:rPr>
              <a:t>Evaluates lab test outcomes and updates the remaining pool.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3. Web Workstation UI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HTML5 &amp; Vanilla CSS: </a:t>
            </a:r>
            <a:r>
              <a:rPr b="0" sz="1200">
                <a:solidFill>
                  <a:srgbClr val="475569"/>
                </a:solidFill>
              </a:rPr>
              <a:t>Crisp light medical portal with responsive workspace design.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JavaScript State Control: </a:t>
            </a:r>
            <a:r>
              <a:rPr b="0" sz="1200">
                <a:solidFill>
                  <a:srgbClr val="475569"/>
                </a:solidFill>
              </a:rPr>
              <a:t>Manages state, pagination, account storage, and API communication.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Clinician Portal: </a:t>
            </a:r>
            <a:r>
              <a:rPr b="0" sz="1200">
                <a:solidFill>
                  <a:srgbClr val="475569"/>
                </a:solidFill>
              </a:rPr>
              <a:t>Provides secure login, collapsible sidebar, and diagnostic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Clinician Portal &amp; Account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Authentication &amp; Credentials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Account Registration: </a:t>
            </a:r>
            <a:r>
              <a:rPr b="0" sz="1200">
                <a:solidFill>
                  <a:srgbClr val="475569"/>
                </a:solidFill>
              </a:rPr>
              <a:t>Clinicians register by providing full name, email, facility name, and password.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Secure Sign In: </a:t>
            </a:r>
            <a:r>
              <a:rPr b="0" sz="1200">
                <a:solidFill>
                  <a:srgbClr val="475569"/>
                </a:solidFill>
              </a:rPr>
              <a:t>Registered clinicians sign in to launch their clinical workstation.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Password Reset Recovery: </a:t>
            </a:r>
            <a:r>
              <a:rPr b="0" sz="1200">
                <a:solidFill>
                  <a:srgbClr val="475569"/>
                </a:solidFill>
              </a:rPr>
              <a:t>Includes a password reset request modal for credential recovery.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localStorage Persistence: </a:t>
            </a:r>
            <a:r>
              <a:rPr b="0" sz="1200">
                <a:solidFill>
                  <a:srgbClr val="475569"/>
                </a:solidFill>
              </a:rPr>
              <a:t>Account profiles persist in browser storage across page reloads.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Clinician Workspace Sidebar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Collapsible Sidebar Mode: </a:t>
            </a:r>
            <a:r>
              <a:rPr b="0" sz="1200">
                <a:solidFill>
                  <a:srgbClr val="475569"/>
                </a:solidFill>
              </a:rPr>
              <a:t>Displays active clinician name, email, facility, and role. Can be collapsed into icon view.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Sign Out Control: </a:t>
            </a:r>
            <a:r>
              <a:rPr b="0" sz="1200">
                <a:solidFill>
                  <a:srgbClr val="475569"/>
                </a:solidFill>
              </a:rPr>
              <a:t>Located at the bottom of the sidebar to exit securely to the Landing Page.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Status Bar Indicator: </a:t>
            </a:r>
            <a:r>
              <a:rPr b="0" sz="1200">
                <a:solidFill>
                  <a:srgbClr val="475569"/>
                </a:solidFill>
              </a:rPr>
              <a:t>Shows engine connection health (Online / Ready) in the top navigation 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1: Presenting Symptom Intake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Symptom Categories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Systemic: </a:t>
            </a:r>
            <a:r>
              <a:rPr b="0" sz="1200">
                <a:solidFill>
                  <a:srgbClr val="475569"/>
                </a:solidFill>
              </a:rPr>
              <a:t>High fever, chills, fatigue, diaphoresis, rigors.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Respiratory: </a:t>
            </a:r>
            <a:r>
              <a:rPr b="0" sz="1200">
                <a:solidFill>
                  <a:srgbClr val="475569"/>
                </a:solidFill>
              </a:rPr>
              <a:t>Cough, dyspnea, sore throat, anosmia.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Gastrointestinal: </a:t>
            </a:r>
            <a:r>
              <a:rPr b="0" sz="1200">
                <a:solidFill>
                  <a:srgbClr val="475569"/>
                </a:solidFill>
              </a:rPr>
              <a:t>Abdominal pain, nausea, diarrhea, vomiting.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Neurological: </a:t>
            </a:r>
            <a:r>
              <a:rPr b="0" sz="1200">
                <a:solidFill>
                  <a:srgbClr val="475569"/>
                </a:solidFill>
              </a:rPr>
              <a:t>Headache, retro-orbital pain, dizziness.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Risk Factors &amp; History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Vector Exposure: </a:t>
            </a:r>
            <a:r>
              <a:rPr b="0" sz="1200">
                <a:solidFill>
                  <a:srgbClr val="475569"/>
                </a:solidFill>
              </a:rPr>
              <a:t>Recent mosquito bites or travel to endemic areas.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Water Hygiene: </a:t>
            </a:r>
            <a:r>
              <a:rPr b="0" sz="1200">
                <a:solidFill>
                  <a:srgbClr val="475569"/>
                </a:solidFill>
              </a:rPr>
              <a:t>Consumption of unboiled water or street food.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Contact History: </a:t>
            </a:r>
            <a:r>
              <a:rPr b="0" sz="1200">
                <a:solidFill>
                  <a:srgbClr val="475569"/>
                </a:solidFill>
              </a:rPr>
              <a:t>Contact with known infected individuals.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Occupational Exposure: </a:t>
            </a:r>
            <a:r>
              <a:rPr b="0" sz="1200">
                <a:solidFill>
                  <a:srgbClr val="475569"/>
                </a:solidFill>
              </a:rPr>
              <a:t>Seasonal or healthcare setting risks.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Triage Controls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Interactive Checkboxes: </a:t>
            </a:r>
            <a:r>
              <a:rPr b="0" sz="1200">
                <a:solidFill>
                  <a:srgbClr val="475569"/>
                </a:solidFill>
              </a:rPr>
              <a:t>Fast click selection during patient intake.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Custom Clinical Notes: </a:t>
            </a:r>
            <a:r>
              <a:rPr b="0" sz="1200">
                <a:solidFill>
                  <a:srgbClr val="475569"/>
                </a:solidFill>
              </a:rPr>
              <a:t>Text area for entering unlisted observations.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Single-Click Execution: </a:t>
            </a:r>
            <a:r>
              <a:rPr b="0" sz="1200">
                <a:solidFill>
                  <a:srgbClr val="475569"/>
                </a:solidFill>
              </a:rPr>
              <a:t>Triggers relational logic inference instantly.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2: Sequential Targeted Questioning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Sequential Priority Algorithm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Top 3 Candidate Lock: </a:t>
            </a:r>
            <a:r>
              <a:rPr b="0" sz="1200">
                <a:solidFill>
                  <a:srgbClr val="475569"/>
                </a:solidFill>
              </a:rPr>
              <a:t>Locks the top 3 candidate diseases matching initial symptoms.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Least-Likely-First Priority: </a:t>
            </a:r>
            <a:r>
              <a:rPr b="0" sz="1200">
                <a:solidFill>
                  <a:srgbClr val="475569"/>
                </a:solidFill>
              </a:rPr>
              <a:t>Investigates Disease 3 -&gt; Disease 2 -&gt; Disease 1 to eliminate lower candidates early.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Secondary Sign Queries: </a:t>
            </a:r>
            <a:r>
              <a:rPr b="0" sz="1200">
                <a:solidFill>
                  <a:srgbClr val="475569"/>
                </a:solidFill>
              </a:rPr>
              <a:t>Asks targeted follow-up questions regarding secondary signs.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Binary Action Buttons: </a:t>
            </a:r>
            <a:r>
              <a:rPr b="0" sz="1200">
                <a:solidFill>
                  <a:srgbClr val="475569"/>
                </a:solidFill>
              </a:rPr>
              <a:t>Questions feature clean Yes and No action buttons for rapid entry.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Controlled Pagination UX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5-Item Maximum Pagination: </a:t>
            </a:r>
            <a:r>
              <a:rPr b="0" sz="1200">
                <a:solidFill>
                  <a:srgbClr val="475569"/>
                </a:solidFill>
              </a:rPr>
              <a:t>Displays at most 5 questions per page when total questions exceed 5.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Auto Control Hiding: </a:t>
            </a:r>
            <a:r>
              <a:rPr b="0" sz="1200">
                <a:solidFill>
                  <a:srgbClr val="475569"/>
                </a:solidFill>
              </a:rPr>
              <a:t>Hides previous/next buttons automatically when total questions &lt;= 5.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Progress Indicator: </a:t>
            </a:r>
            <a:r>
              <a:rPr b="0" sz="1200">
                <a:solidFill>
                  <a:srgbClr val="475569"/>
                </a:solidFill>
              </a:rPr>
              <a:t>Displays active completion percentage and step counter.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Inference Unlock: </a:t>
            </a:r>
            <a:r>
              <a:rPr b="0" sz="1200">
                <a:solidFill>
                  <a:srgbClr val="475569"/>
                </a:solidFill>
              </a:rPr>
              <a:t>Unlocks final diagnosis panel after question completion.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Phase 3: Differential Output &amp; Confirmation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Differential Diagnosis Output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Primary Diagnosis Card: </a:t>
            </a:r>
            <a:r>
              <a:rPr b="0" sz="1200">
                <a:solidFill>
                  <a:srgbClr val="475569"/>
                </a:solidFill>
              </a:rPr>
              <a:t>Displays leading disease, category, ICD-10 code, and description.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Confidence Score: </a:t>
            </a:r>
            <a:r>
              <a:rPr b="0" sz="1200">
                <a:solidFill>
                  <a:srgbClr val="475569"/>
                </a:solidFill>
              </a:rPr>
              <a:t>Renders calculated confidence percentage based on matched rules.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Recommended Tests: </a:t>
            </a:r>
            <a:r>
              <a:rPr b="0" sz="1200">
                <a:solidFill>
                  <a:srgbClr val="475569"/>
                </a:solidFill>
              </a:rPr>
              <a:t>Specifies laboratory test name, sample type, and urgency level.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Eliminated Candidate Pool: </a:t>
            </a:r>
            <a:r>
              <a:rPr b="0" sz="1200">
                <a:solidFill>
                  <a:srgbClr val="475569"/>
                </a:solidFill>
              </a:rPr>
              <a:t>Lists ruled-out diseases with explicit elimination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Lab Confirmation Processing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Test Positive Outcome: </a:t>
            </a:r>
            <a:r>
              <a:rPr b="0" sz="1200">
                <a:solidFill>
                  <a:srgbClr val="475569"/>
                </a:solidFill>
              </a:rPr>
              <a:t>Locks confirmed diagnosis, displays prescribed medications, and halts testing.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Test Negative Outcome: </a:t>
            </a:r>
            <a:r>
              <a:rPr b="0" sz="1200">
                <a:solidFill>
                  <a:srgbClr val="475569"/>
                </a:solidFill>
              </a:rPr>
              <a:t>Eliminates tested condition, displays next candidate, and updates differential pool.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Ruled-Out Notice: </a:t>
            </a:r>
            <a:r>
              <a:rPr b="0" sz="1200">
                <a:solidFill>
                  <a:srgbClr val="475569"/>
                </a:solidFill>
              </a:rPr>
              <a:t>If all candidates test negative, displays a notice recommending broad-spectrum lab testing.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MEDICAL DIAGNOSIS EXPERT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Step-by-Step Clinical Triage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103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Step 1: Auth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Sign In Portal: </a:t>
            </a:r>
            <a:r>
              <a:rPr b="0" sz="1200">
                <a:solidFill>
                  <a:srgbClr val="475569"/>
                </a:solidFill>
              </a:rPr>
              <a:t>Clinician logs in or registers profile.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Profile Active: </a:t>
            </a:r>
            <a:r>
              <a:rPr b="0" sz="1200">
                <a:solidFill>
                  <a:srgbClr val="475569"/>
                </a:solidFill>
              </a:rPr>
              <a:t>Workspace launches with active details.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645920"/>
            <a:ext cx="2103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Step 2: Symptoms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Intake Selection: </a:t>
            </a:r>
            <a:r>
              <a:rPr b="0" sz="1200">
                <a:solidFill>
                  <a:srgbClr val="475569"/>
                </a:solidFill>
              </a:rPr>
              <a:t>Select primary symptoms &amp; risk factors.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Run Inference: </a:t>
            </a:r>
            <a:r>
              <a:rPr b="0" sz="1200">
                <a:solidFill>
                  <a:srgbClr val="475569"/>
                </a:solidFill>
              </a:rPr>
              <a:t>Execute relational logic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2103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Step 3: Questions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Top 3 Candidate Pool: </a:t>
            </a:r>
            <a:r>
              <a:rPr b="0" sz="1200">
                <a:solidFill>
                  <a:srgbClr val="475569"/>
                </a:solidFill>
              </a:rPr>
              <a:t>System locks top 3 candidate diseases.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Sequential Survey: </a:t>
            </a:r>
            <a:r>
              <a:rPr b="0" sz="1200">
                <a:solidFill>
                  <a:srgbClr val="475569"/>
                </a:solidFill>
              </a:rPr>
              <a:t>Answer Yes/No follow-up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645920"/>
            <a:ext cx="2103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Step 4: Confirm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Review Differential: </a:t>
            </a:r>
            <a:r>
              <a:rPr b="0" sz="1200">
                <a:solidFill>
                  <a:srgbClr val="475569"/>
                </a:solidFill>
              </a:rPr>
              <a:t>Examine diagnosis &amp; lab recommendations.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Record Test Result: </a:t>
            </a:r>
            <a:r>
              <a:rPr b="0" sz="1200">
                <a:solidFill>
                  <a:srgbClr val="475569"/>
                </a:solidFill>
              </a:rPr>
              <a:t>Submit Positive/Negative test outcome.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VERIFICATION &amp; PROJECT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Verification &amp; Quality Metrics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9/9 Unit Tests Passed: </a:t>
            </a:r>
            <a:r>
              <a:rPr b="0" sz="1200">
                <a:solidFill>
                  <a:srgbClr val="475569"/>
                </a:solidFill>
              </a:rPr>
              <a:t>100% pass rate in tests/test_kanren_engine.py.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0 Compiler Errors: </a:t>
            </a:r>
            <a:r>
              <a:rPr b="0" sz="1200">
                <a:solidFill>
                  <a:srgbClr val="475569"/>
                </a:solidFill>
              </a:rPr>
              <a:t>Validated JavaScript client code with Node.js compiler.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Authentication Verified: </a:t>
            </a:r>
            <a:r>
              <a:rPr b="0" sz="1200">
                <a:solidFill>
                  <a:srgbClr val="475569"/>
                </a:solidFill>
              </a:rPr>
              <a:t>Verified local storage persistence and password validation.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Question Sequence Verified: </a:t>
            </a:r>
            <a:r>
              <a:rPr b="0" sz="1200">
                <a:solidFill>
                  <a:srgbClr val="475569"/>
                </a:solidFill>
              </a:rPr>
              <a:t>Verified 3-disease sequential questioning and pagination.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Arial"/>
              </a:defRPr>
            </a:pPr>
            <a:r>
              <a:t>Key Project Deliverables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Relational Knowledge Engine: </a:t>
            </a:r>
            <a:r>
              <a:rPr b="0" sz="1200">
                <a:solidFill>
                  <a:srgbClr val="475569"/>
                </a:solidFill>
              </a:rPr>
              <a:t>Python Kanren declarative rule evaluator.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Clinician Portal Workstation: </a:t>
            </a:r>
            <a:r>
              <a:rPr b="0" sz="1200">
                <a:solidFill>
                  <a:srgbClr val="475569"/>
                </a:solidFill>
              </a:rPr>
              <a:t>Light-themed medical portal with collapsible sidebar.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Sequential Triage Algorithm: </a:t>
            </a:r>
            <a:r>
              <a:rPr b="0" sz="1200">
                <a:solidFill>
                  <a:srgbClr val="475569"/>
                </a:solidFill>
              </a:rPr>
              <a:t>Targeted questioning from least-likely to most-likely candidate.</a:t>
            </a:r>
          </a:p>
          <a:p>
            <a:pPr>
              <a:spcAft>
                <a:spcPts val="600"/>
              </a:spcAft>
              <a:defRPr>
                <a:latin typeface="Arial"/>
              </a:defRPr>
            </a:pPr>
            <a:r>
              <a:rPr b="1" sz="1200">
                <a:solidFill>
                  <a:srgbClr val="0F172A"/>
                </a:solidFill>
              </a:rPr>
              <a:t>• Definitive Lab Confirmation: </a:t>
            </a:r>
            <a:r>
              <a:rPr b="0" sz="1200">
                <a:solidFill>
                  <a:srgbClr val="475569"/>
                </a:solidFill>
              </a:rPr>
              <a:t>Positive/negative lab processing with medication protocols.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